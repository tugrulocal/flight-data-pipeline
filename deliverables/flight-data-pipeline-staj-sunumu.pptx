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CC1"/>
          </a:solidFill>
          <a:ln>
            <a:solidFill>
              <a:srgbClr val="00A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8046720" cy="6583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Flight Data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965960"/>
            <a:ext cx="7680960" cy="9144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100" b="0">
                <a:solidFill>
                  <a:srgbClr val="D9EAF7"/>
                </a:solidFill>
                <a:latin typeface="Aptos"/>
              </a:rPr>
              <a:t>Canlı uçuş verisinden güvenilir veri hattına,
web arayüzüne ve analitik katmana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41148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00ACC1"/>
                </a:solidFill>
                <a:latin typeface="Aptos"/>
              </a:rPr>
              <a:t>Staj Projesi Sunumu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49039"/>
            <a:ext cx="969264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OpenSky • Kafka • MongoDB • FastAPI • React • Docker • Kubernetes • Spark • Iceberg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983480"/>
            <a:ext cx="1691640" cy="658368"/>
          </a:xfrm>
          <a:prstGeom prst="roundRect">
            <a:avLst/>
          </a:prstGeom>
          <a:solidFill>
            <a:srgbClr val="00ACC1"/>
          </a:solidFill>
          <a:ln>
            <a:solidFill>
              <a:srgbClr val="00A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5093208"/>
            <a:ext cx="1545336" cy="31601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4983480"/>
            <a:ext cx="1691640" cy="658368"/>
          </a:xfrm>
          <a:prstGeom prst="round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62072" y="5093208"/>
            <a:ext cx="1545336" cy="31601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STREAM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14600" y="5312664"/>
            <a:ext cx="274320" cy="0"/>
          </a:xfrm>
          <a:prstGeom prst="line">
            <a:avLst/>
          </a:prstGeom>
          <a:ln w="25400">
            <a:solidFill>
              <a:srgbClr val="8FA7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846320" y="4983480"/>
            <a:ext cx="1691640" cy="658368"/>
          </a:xfrm>
          <a:prstGeom prst="round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19472" y="5093208"/>
            <a:ext cx="1545336" cy="31601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DB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72000" y="5312664"/>
            <a:ext cx="274320" cy="0"/>
          </a:xfrm>
          <a:prstGeom prst="line">
            <a:avLst/>
          </a:prstGeom>
          <a:ln w="25400">
            <a:solidFill>
              <a:srgbClr val="8FA7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903720" y="4983480"/>
            <a:ext cx="1691640" cy="658368"/>
          </a:xfrm>
          <a:prstGeom prst="roundRect">
            <a:avLst/>
          </a:prstGeom>
          <a:solidFill>
            <a:srgbClr val="EF6C00"/>
          </a:solidFill>
          <a:ln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76872" y="5093208"/>
            <a:ext cx="1545336" cy="31601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WEB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629400" y="5312664"/>
            <a:ext cx="274320" cy="0"/>
          </a:xfrm>
          <a:prstGeom prst="line">
            <a:avLst/>
          </a:prstGeom>
          <a:ln w="25400">
            <a:solidFill>
              <a:srgbClr val="8FA7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961120" y="4983480"/>
            <a:ext cx="1691640" cy="658368"/>
          </a:xfrm>
          <a:prstGeom prst="roundRect">
            <a:avLst/>
          </a:prstGeom>
          <a:solidFill>
            <a:srgbClr val="6A1B9A"/>
          </a:solidFill>
          <a:ln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34272" y="5093208"/>
            <a:ext cx="1545336" cy="31601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ANALYTICS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686800" y="5312664"/>
            <a:ext cx="274320" cy="0"/>
          </a:xfrm>
          <a:prstGeom prst="line">
            <a:avLst/>
          </a:prstGeom>
          <a:ln w="25400">
            <a:solidFill>
              <a:srgbClr val="8FA7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515600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tos"/>
              </a:rPr>
              <a:t>Sunum akışı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50392"/>
            <a:ext cx="1051560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5B6770"/>
                </a:solidFill>
                <a:latin typeface="Aptos"/>
              </a:rPr>
              <a:t>15–20 dakika anlatım + 3–4 dakika canlı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38328"/>
            <a:ext cx="50292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200" b="1">
                <a:solidFill>
                  <a:srgbClr val="1976D2"/>
                </a:solidFill>
                <a:latin typeface="Aptos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92240"/>
            <a:ext cx="11064240" cy="9144"/>
          </a:xfrm>
          <a:prstGeom prst="rect">
            <a:avLst/>
          </a:prstGeom>
          <a:solidFill>
            <a:srgbClr val="D9E2E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56248"/>
            <a:ext cx="484632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0">
                <a:solidFill>
                  <a:srgbClr val="5B6770"/>
                </a:solidFill>
                <a:latin typeface="Aptos"/>
              </a:rPr>
              <a:t>Flight Data Pipeline • Staj Projesi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417320"/>
            <a:ext cx="5074920" cy="822960"/>
          </a:xfrm>
          <a:prstGeom prst="roundRect">
            <a:avLst/>
          </a:prstGeom>
          <a:solidFill>
            <a:srgbClr val="F5F8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33271" y="1572768"/>
            <a:ext cx="493776" cy="493776"/>
          </a:xfrm>
          <a:prstGeom prst="round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1636776"/>
            <a:ext cx="493776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645920"/>
            <a:ext cx="393192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02A43"/>
                </a:solidFill>
                <a:latin typeface="Aptos"/>
              </a:rPr>
              <a:t>Problem ve hedef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417320"/>
            <a:ext cx="5074920" cy="822960"/>
          </a:xfrm>
          <a:prstGeom prst="roundRect">
            <a:avLst/>
          </a:prstGeom>
          <a:solidFill>
            <a:srgbClr val="F5F8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11112" y="1572768"/>
            <a:ext cx="493776" cy="493776"/>
          </a:xfrm>
          <a:prstGeom prst="round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11112" y="1636776"/>
            <a:ext cx="493776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1645920"/>
            <a:ext cx="393192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02A43"/>
                </a:solidFill>
                <a:latin typeface="Aptos"/>
              </a:rPr>
              <a:t>Canlı veri mimarisi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2560320"/>
            <a:ext cx="5074920" cy="822960"/>
          </a:xfrm>
          <a:prstGeom prst="roundRect">
            <a:avLst/>
          </a:prstGeom>
          <a:solidFill>
            <a:srgbClr val="F5F8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33271" y="2715768"/>
            <a:ext cx="493776" cy="493776"/>
          </a:xfrm>
          <a:prstGeom prst="round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1" y="2779776"/>
            <a:ext cx="493776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2788920"/>
            <a:ext cx="393192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02A43"/>
                </a:solidFill>
                <a:latin typeface="Aptos"/>
              </a:rPr>
              <a:t>Güvenilirlik ve hata yönetimi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2560320"/>
            <a:ext cx="5074920" cy="822960"/>
          </a:xfrm>
          <a:prstGeom prst="roundRect">
            <a:avLst/>
          </a:prstGeom>
          <a:solidFill>
            <a:srgbClr val="F5F8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611112" y="2715768"/>
            <a:ext cx="493776" cy="493776"/>
          </a:xfrm>
          <a:prstGeom prst="round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11112" y="2779776"/>
            <a:ext cx="493776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2788920"/>
            <a:ext cx="393192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02A43"/>
                </a:solidFill>
                <a:latin typeface="Aptos"/>
              </a:rPr>
              <a:t>Kullanıcı arayüzü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3703320"/>
            <a:ext cx="5074920" cy="822960"/>
          </a:xfrm>
          <a:prstGeom prst="roundRect">
            <a:avLst/>
          </a:prstGeom>
          <a:solidFill>
            <a:srgbClr val="F5F8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33271" y="3858768"/>
            <a:ext cx="493776" cy="493776"/>
          </a:xfrm>
          <a:prstGeom prst="roundRect">
            <a:avLst/>
          </a:prstGeom>
          <a:solidFill>
            <a:srgbClr val="6A1B9A"/>
          </a:solidFill>
          <a:ln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3271" y="3922776"/>
            <a:ext cx="493776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3931920"/>
            <a:ext cx="393192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02A43"/>
                </a:solidFill>
                <a:latin typeface="Aptos"/>
              </a:rPr>
              <a:t>DevOps, Kubernetes ve izleme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46520" y="3703320"/>
            <a:ext cx="5074920" cy="822960"/>
          </a:xfrm>
          <a:prstGeom prst="roundRect">
            <a:avLst/>
          </a:prstGeom>
          <a:solidFill>
            <a:srgbClr val="F5F8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611112" y="3858768"/>
            <a:ext cx="493776" cy="493776"/>
          </a:xfrm>
          <a:prstGeom prst="roundRect">
            <a:avLst/>
          </a:prstGeom>
          <a:solidFill>
            <a:srgbClr val="6A1B9A"/>
          </a:solidFill>
          <a:ln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11112" y="3922776"/>
            <a:ext cx="493776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3931920"/>
            <a:ext cx="393192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02A43"/>
                </a:solidFill>
                <a:latin typeface="Aptos"/>
              </a:rPr>
              <a:t>Spark / Iceberg analitik katmanı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8680" y="4846320"/>
            <a:ext cx="5074920" cy="822960"/>
          </a:xfrm>
          <a:prstGeom prst="roundRect">
            <a:avLst/>
          </a:prstGeom>
          <a:solidFill>
            <a:srgbClr val="F5F8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33271" y="5001768"/>
            <a:ext cx="493776" cy="493776"/>
          </a:xfrm>
          <a:prstGeom prst="roundRect">
            <a:avLst/>
          </a:prstGeom>
          <a:solidFill>
            <a:srgbClr val="6A1B9A"/>
          </a:solidFill>
          <a:ln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3271" y="5065776"/>
            <a:ext cx="493776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91640" y="5074920"/>
            <a:ext cx="393192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02A43"/>
                </a:solidFill>
                <a:latin typeface="Aptos"/>
              </a:rPr>
              <a:t>Test, release ve sonraki adımlar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515600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tos"/>
              </a:rPr>
              <a:t>Başlangıç problemi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50392"/>
            <a:ext cx="1051560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5B6770"/>
                </a:solidFill>
                <a:latin typeface="Aptos"/>
              </a:rPr>
              <a:t>Canlı dış veriyi kullanıcıya doğrudan bağlamak yeterli değildir.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38328"/>
            <a:ext cx="50292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200" b="1">
                <a:solidFill>
                  <a:srgbClr val="1976D2"/>
                </a:solidFill>
                <a:latin typeface="Aptos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92240"/>
            <a:ext cx="11064240" cy="9144"/>
          </a:xfrm>
          <a:prstGeom prst="rect">
            <a:avLst/>
          </a:prstGeom>
          <a:solidFill>
            <a:srgbClr val="D9E2E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56248"/>
            <a:ext cx="484632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0">
                <a:solidFill>
                  <a:srgbClr val="5B6770"/>
                </a:solidFill>
                <a:latin typeface="Aptos"/>
              </a:rPr>
              <a:t>Flight Data Pipeline • Staj Projesi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3474720" cy="1965960"/>
          </a:xfrm>
          <a:prstGeom prst="roundRect">
            <a:avLst/>
          </a:prstGeom>
          <a:solidFill>
            <a:srgbClr val="F5F8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417320"/>
            <a:ext cx="73152" cy="1965960"/>
          </a:xfrm>
          <a:prstGeom prst="rect">
            <a:avLst/>
          </a:prstGeom>
          <a:solidFill>
            <a:srgbClr val="EF6C00"/>
          </a:solidFill>
          <a:ln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81912"/>
            <a:ext cx="31089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Dış kaynak değişken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93392"/>
            <a:ext cx="3090672" cy="127101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5B6770"/>
                </a:solidFill>
                <a:latin typeface="Aptos"/>
              </a:rPr>
              <a:t>OpenSky API gecikebilir, kota uygulayabilir veya geçici olarak yanıt vermeyebilir.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1417320"/>
            <a:ext cx="3474720" cy="1965960"/>
          </a:xfrm>
          <a:prstGeom prst="roundRect">
            <a:avLst/>
          </a:prstGeom>
          <a:solidFill>
            <a:srgbClr val="F5F8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61688" y="1417320"/>
            <a:ext cx="73152" cy="196596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581912"/>
            <a:ext cx="31089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Canlı ekran hassas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1993392"/>
            <a:ext cx="3090672" cy="127101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5B6770"/>
                </a:solidFill>
                <a:latin typeface="Aptos"/>
              </a:rPr>
              <a:t>Kullanıcı haritayı açtığında güncel bir durum görmeli; bağlantı koparsa toparlanmalıdır.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1" y="1417320"/>
            <a:ext cx="3474720" cy="1965960"/>
          </a:xfrm>
          <a:prstGeom prst="roundRect">
            <a:avLst/>
          </a:prstGeom>
          <a:solidFill>
            <a:srgbClr val="F5F8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28431" y="1417320"/>
            <a:ext cx="73152" cy="1965960"/>
          </a:xfrm>
          <a:prstGeom prst="rect">
            <a:avLst/>
          </a:prstGeom>
          <a:solidFill>
            <a:srgbClr val="C62828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1" y="1581912"/>
            <a:ext cx="31089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Veri kaybı riski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1" y="1993392"/>
            <a:ext cx="3090672" cy="127101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5B6770"/>
                </a:solidFill>
                <a:latin typeface="Aptos"/>
              </a:rPr>
              <a:t>Bir servis çökerken mesajı kaybetmeden, tekrar işlese bile çift kayıt üretmeden devam etmeliyiz.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4069080"/>
            <a:ext cx="21945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102A43"/>
                </a:solidFill>
                <a:latin typeface="Aptos"/>
              </a:rPr>
              <a:t>Çözüm yaklaşımı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526280"/>
            <a:ext cx="9875520" cy="1508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172B4D"/>
                </a:solidFill>
                <a:latin typeface="Aptos"/>
              </a:defRPr>
            </a:pPr>
            <a:r>
              <a:t>• Canlı veri ile kalıcı veriyi ayırmak</a:t>
            </a:r>
          </a:p>
          <a:p>
            <a:pPr>
              <a:spcAft>
                <a:spcPts val="1100"/>
              </a:spcAft>
              <a:defRPr sz="1700">
                <a:solidFill>
                  <a:srgbClr val="172B4D"/>
                </a:solidFill>
                <a:latin typeface="Aptos"/>
              </a:defRPr>
            </a:pPr>
            <a:r>
              <a:t>• Servisleri mesaj kuyruğu ile gevşek bağlamak</a:t>
            </a:r>
          </a:p>
          <a:p>
            <a:pPr>
              <a:spcAft>
                <a:spcPts val="1100"/>
              </a:spcAft>
              <a:defRPr sz="1700">
                <a:solidFill>
                  <a:srgbClr val="172B4D"/>
                </a:solidFill>
                <a:latin typeface="Aptos"/>
              </a:defRPr>
            </a:pPr>
            <a:r>
              <a:t>• Hataları görünür ve tekrar işlenebilir kılmak</a:t>
            </a:r>
          </a:p>
          <a:p>
            <a:pPr>
              <a:spcAft>
                <a:spcPts val="1100"/>
              </a:spcAft>
              <a:defRPr sz="1700">
                <a:solidFill>
                  <a:srgbClr val="172B4D"/>
                </a:solidFill>
                <a:latin typeface="Aptos"/>
              </a:defRPr>
            </a:pPr>
            <a:r>
              <a:t>• Kullanıcıya REST + WebSocket ile kontrollü veri sunmak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515600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tos"/>
              </a:rPr>
              <a:t>Proje hedefleri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50392"/>
            <a:ext cx="1051560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5B6770"/>
                </a:solidFill>
                <a:latin typeface="Aptos"/>
              </a:rPr>
              <a:t>Tek hedef ekran yapmak değil; uçtan uca veri mühendisliği pratiği kazanmaktı.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38328"/>
            <a:ext cx="50292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200" b="1">
                <a:solidFill>
                  <a:srgbClr val="1976D2"/>
                </a:solidFill>
                <a:latin typeface="Aptos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92240"/>
            <a:ext cx="11064240" cy="9144"/>
          </a:xfrm>
          <a:prstGeom prst="rect">
            <a:avLst/>
          </a:prstGeom>
          <a:solidFill>
            <a:srgbClr val="D9E2E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56248"/>
            <a:ext cx="484632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0">
                <a:solidFill>
                  <a:srgbClr val="5B6770"/>
                </a:solidFill>
                <a:latin typeface="Aptos"/>
              </a:rPr>
              <a:t>Flight Data Pipeline • Staj Projesi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5166360" cy="1417320"/>
          </a:xfrm>
          <a:prstGeom prst="roundRect">
            <a:avLst/>
          </a:prstGeom>
          <a:solidFill>
            <a:srgbClr val="F5F8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25880"/>
            <a:ext cx="73152" cy="141732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490472"/>
            <a:ext cx="48006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Ürün hedefi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901952"/>
            <a:ext cx="4782312" cy="72237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5B6770"/>
                </a:solidFill>
                <a:latin typeface="Aptos"/>
              </a:rPr>
              <a:t>Canlı uçak listesi, konum haritası, seçili uçağın rotası ve geçmiş sorgusu.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325880"/>
            <a:ext cx="5166360" cy="1417320"/>
          </a:xfrm>
          <a:prstGeom prst="roundRect">
            <a:avLst/>
          </a:prstGeom>
          <a:solidFill>
            <a:srgbClr val="F5F8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325880"/>
            <a:ext cx="73152" cy="141732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490472"/>
            <a:ext cx="48006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Öğrenme hedefi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901952"/>
            <a:ext cx="4782312" cy="72237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5B6770"/>
                </a:solidFill>
                <a:latin typeface="Aptos"/>
              </a:rPr>
              <a:t>Docker, Kafka, MongoDB, FastAPI, React, test, release ve operasyon kavramlarını birlikte uygulamak.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154680"/>
            <a:ext cx="5166360" cy="1417320"/>
          </a:xfrm>
          <a:prstGeom prst="roundRect">
            <a:avLst/>
          </a:prstGeom>
          <a:solidFill>
            <a:srgbClr val="F5F8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154680"/>
            <a:ext cx="73152" cy="1417320"/>
          </a:xfrm>
          <a:prstGeom prst="rect">
            <a:avLst/>
          </a:prstGeom>
          <a:solidFill>
            <a:srgbClr val="EF6C00"/>
          </a:solidFill>
          <a:ln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319272"/>
            <a:ext cx="48006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Kalite hedefi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730752"/>
            <a:ext cx="4782312" cy="72237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5B6770"/>
                </a:solidFill>
                <a:latin typeface="Aptos"/>
              </a:rPr>
              <a:t>Veri kaybına dayanıklılık, idempotent yazım, hata izolasyonu, doğrulanabilir kurulum ve geri alma yolu.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154680"/>
            <a:ext cx="5166360" cy="1417320"/>
          </a:xfrm>
          <a:prstGeom prst="roundRect">
            <a:avLst/>
          </a:prstGeom>
          <a:solidFill>
            <a:srgbClr val="F5F8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3154680"/>
            <a:ext cx="73152" cy="1417320"/>
          </a:xfrm>
          <a:prstGeom prst="rect">
            <a:avLst/>
          </a:prstGeom>
          <a:solidFill>
            <a:srgbClr val="6A1B9A"/>
          </a:solidFill>
          <a:ln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319272"/>
            <a:ext cx="48006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Analitik hedef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730752"/>
            <a:ext cx="4782312" cy="72237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5B6770"/>
                </a:solidFill>
                <a:latin typeface="Aptos"/>
              </a:rPr>
              <a:t>Ham olaylardan Spark ile Bronze / Silver / Gold katmanları ve Iceberg snapshot yönetimi oluşturmak.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" y="5212080"/>
            <a:ext cx="1042416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2A43"/>
                </a:solidFill>
                <a:latin typeface="Aptos"/>
              </a:rPr>
              <a:t>Başarı ölçütü: Kodun çalışması + gözlemlenebilirlik + test kanıtı + güvenli işletim.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515600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tos"/>
              </a:rPr>
              <a:t>Canlı veri hattı: büyük resim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50392"/>
            <a:ext cx="1051560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5B6770"/>
                </a:solidFill>
                <a:latin typeface="Aptos"/>
              </a:rPr>
              <a:t>Veri kaynağından kullanıcı ekranına kadar sorumluluklar ayrılmıştır.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38328"/>
            <a:ext cx="50292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200" b="1">
                <a:solidFill>
                  <a:srgbClr val="1976D2"/>
                </a:solidFill>
                <a:latin typeface="Aptos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92240"/>
            <a:ext cx="11064240" cy="9144"/>
          </a:xfrm>
          <a:prstGeom prst="rect">
            <a:avLst/>
          </a:prstGeom>
          <a:solidFill>
            <a:srgbClr val="D9E2E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56248"/>
            <a:ext cx="484632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0">
                <a:solidFill>
                  <a:srgbClr val="5B6770"/>
                </a:solidFill>
                <a:latin typeface="Aptos"/>
              </a:rPr>
              <a:t>Flight Data Pipeline • Staj Projesi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331720"/>
            <a:ext cx="1325880" cy="868680"/>
          </a:xfrm>
          <a:prstGeom prst="roundRect">
            <a:avLst/>
          </a:prstGeom>
          <a:solidFill>
            <a:srgbClr val="00ACC1"/>
          </a:solidFill>
          <a:ln>
            <a:solidFill>
              <a:srgbClr val="00A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2441448"/>
            <a:ext cx="1179576" cy="41696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OpenSky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818180"/>
            <a:ext cx="1179576" cy="27797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ptos"/>
              </a:rPr>
              <a:t>REST 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48840" y="2331720"/>
            <a:ext cx="1417320" cy="868680"/>
          </a:xfrm>
          <a:prstGeom prst="round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21992" y="2441448"/>
            <a:ext cx="1271016" cy="41696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Producer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21992" y="2818180"/>
            <a:ext cx="1271016" cy="27797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ptos"/>
              </a:rPr>
              <a:t>Python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77639" y="2331720"/>
            <a:ext cx="1417320" cy="868680"/>
          </a:xfrm>
          <a:prstGeom prst="roundRect">
            <a:avLst/>
          </a:prstGeom>
          <a:solidFill>
            <a:srgbClr val="EF6C00"/>
          </a:solidFill>
          <a:ln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50791" y="2441448"/>
            <a:ext cx="1271016" cy="41696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Kafka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50791" y="2818180"/>
            <a:ext cx="1271016" cy="27797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ptos"/>
              </a:rPr>
              <a:t>raw topic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06440" y="1371600"/>
            <a:ext cx="1600200" cy="868680"/>
          </a:xfrm>
          <a:prstGeom prst="round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79592" y="1481328"/>
            <a:ext cx="1453896" cy="41696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MongoDB
Consumer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79592" y="1858060"/>
            <a:ext cx="1453896" cy="27797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ptos"/>
              </a:rPr>
              <a:t>kalıcı yazım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06440" y="3337560"/>
            <a:ext cx="1600200" cy="868680"/>
          </a:xfrm>
          <a:prstGeom prst="roundRect">
            <a:avLst/>
          </a:prstGeom>
          <a:solidFill>
            <a:srgbClr val="6A1B9A"/>
          </a:solidFill>
          <a:ln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79592" y="3447288"/>
            <a:ext cx="1453896" cy="41696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FastAPI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79592" y="3824020"/>
            <a:ext cx="1453896" cy="27797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ptos"/>
              </a:rPr>
              <a:t>REST + WS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63840" y="1371600"/>
            <a:ext cx="1417320" cy="868680"/>
          </a:xfrm>
          <a:prstGeom prst="round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36992" y="1481328"/>
            <a:ext cx="1271016" cy="41696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MongoDB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36992" y="1858060"/>
            <a:ext cx="1271016" cy="27797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ptos"/>
              </a:rPr>
              <a:t>raw + live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38360" y="3337560"/>
            <a:ext cx="1417320" cy="868680"/>
          </a:xfrm>
          <a:prstGeom prst="round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11512" y="3447288"/>
            <a:ext cx="1271016" cy="41696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React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11512" y="3824020"/>
            <a:ext cx="1271016" cy="27797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ptos"/>
              </a:rPr>
              <a:t>harita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783080" y="2770632"/>
            <a:ext cx="365760" cy="0"/>
          </a:xfrm>
          <a:prstGeom prst="line">
            <a:avLst/>
          </a:prstGeom>
          <a:ln w="25400">
            <a:solidFill>
              <a:srgbClr val="19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566160" y="2770632"/>
            <a:ext cx="411479" cy="0"/>
          </a:xfrm>
          <a:prstGeom prst="line">
            <a:avLst/>
          </a:prstGeom>
          <a:ln w="25400">
            <a:solidFill>
              <a:srgbClr val="19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5394960" y="1828800"/>
            <a:ext cx="411480" cy="777240"/>
          </a:xfrm>
          <a:prstGeom prst="line">
            <a:avLst/>
          </a:prstGeom>
          <a:ln w="25400">
            <a:solidFill>
              <a:srgbClr val="19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394960" y="2926080"/>
            <a:ext cx="411480" cy="850392"/>
          </a:xfrm>
          <a:prstGeom prst="line">
            <a:avLst/>
          </a:prstGeom>
          <a:ln w="25400">
            <a:solidFill>
              <a:srgbClr val="19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406640" y="1810512"/>
            <a:ext cx="457200" cy="0"/>
          </a:xfrm>
          <a:prstGeom prst="line">
            <a:avLst/>
          </a:prstGeom>
          <a:ln w="25400">
            <a:solidFill>
              <a:srgbClr val="19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406640" y="3776472"/>
            <a:ext cx="2331720" cy="0"/>
          </a:xfrm>
          <a:prstGeom prst="line">
            <a:avLst/>
          </a:prstGeom>
          <a:ln w="25400">
            <a:solidFill>
              <a:srgbClr val="19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7406640" y="2240280"/>
            <a:ext cx="1170432" cy="1417320"/>
          </a:xfrm>
          <a:prstGeom prst="line">
            <a:avLst/>
          </a:prstGeom>
          <a:ln w="2540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13232" y="5074920"/>
            <a:ext cx="1078992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700" b="1">
                <a:solidFill>
                  <a:srgbClr val="102A43"/>
                </a:solidFill>
                <a:latin typeface="Aptos"/>
              </a:rPr>
              <a:t>İki ayrı tüketici grubu aynı mesajları bağımsız okur; biri veritabanına yazar, diğeri canlı yayın yapar.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515600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tos"/>
              </a:rPr>
              <a:t>1. Veri üretimi: OpenSky Producer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50392"/>
            <a:ext cx="1051560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5B6770"/>
                </a:solidFill>
                <a:latin typeface="Aptos"/>
              </a:rPr>
              <a:t>Dış API yanıtını ortak bir olay sözleşmesine dönüştüren Python servisi.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38328"/>
            <a:ext cx="50292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200" b="1">
                <a:solidFill>
                  <a:srgbClr val="1976D2"/>
                </a:solidFill>
                <a:latin typeface="Aptos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92240"/>
            <a:ext cx="11064240" cy="9144"/>
          </a:xfrm>
          <a:prstGeom prst="rect">
            <a:avLst/>
          </a:prstGeom>
          <a:solidFill>
            <a:srgbClr val="D9E2E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56248"/>
            <a:ext cx="484632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0">
                <a:solidFill>
                  <a:srgbClr val="5B6770"/>
                </a:solidFill>
                <a:latin typeface="Aptos"/>
              </a:rPr>
              <a:t>Flight Data Pipeline • Staj Projesi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5852160" cy="4114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172B4D"/>
                </a:solidFill>
                <a:latin typeface="Aptos"/>
              </a:defRPr>
            </a:pPr>
            <a:r>
              <a:t>• OpenSky REST API’den uçak konumlarını periyodik olarak alır.</a:t>
            </a:r>
          </a:p>
          <a:p>
            <a:pPr>
              <a:spcAft>
                <a:spcPts val="1100"/>
              </a:spcAft>
              <a:defRPr sz="1600">
                <a:solidFill>
                  <a:srgbClr val="172B4D"/>
                </a:solidFill>
                <a:latin typeface="Aptos"/>
              </a:defRPr>
            </a:pPr>
            <a:r>
              <a:t>• Global veya Türkiye + yakın çevre bounding-box modunda çalışabilir.</a:t>
            </a:r>
          </a:p>
          <a:p>
            <a:pPr>
              <a:spcAft>
                <a:spcPts val="1100"/>
              </a:spcAft>
              <a:defRPr sz="1600">
                <a:solidFill>
                  <a:srgbClr val="172B4D"/>
                </a:solidFill>
                <a:latin typeface="Aptos"/>
              </a:defRPr>
            </a:pPr>
            <a:r>
              <a:t>• Her olaya schema_version ve benzersiz event_id ekler.</a:t>
            </a:r>
          </a:p>
          <a:p>
            <a:pPr>
              <a:spcAft>
                <a:spcPts val="1100"/>
              </a:spcAft>
              <a:defRPr sz="1600">
                <a:solidFill>
                  <a:srgbClr val="172B4D"/>
                </a:solidFill>
                <a:latin typeface="Aptos"/>
              </a:defRPr>
            </a:pPr>
            <a:r>
              <a:t>• Kimlik bilgileri ve çalışma ayarları kodda değil, ortam değişkenlerinde tutulur.</a:t>
            </a:r>
          </a:p>
          <a:p>
            <a:pPr>
              <a:spcAft>
                <a:spcPts val="1100"/>
              </a:spcAft>
              <a:defRPr sz="1600">
                <a:solidFill>
                  <a:srgbClr val="172B4D"/>
                </a:solidFill>
                <a:latin typeface="Aptos"/>
              </a:defRPr>
            </a:pPr>
            <a:r>
              <a:t>• Rate-limit bilgisine göre bekler; anonim kullanımda güvenli minimum sorgu aralığı uygular.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95160" y="1417320"/>
            <a:ext cx="4206240" cy="1325880"/>
          </a:xfrm>
          <a:prstGeom prst="roundRect">
            <a:avLst/>
          </a:prstGeom>
          <a:solidFill>
            <a:srgbClr val="F5F8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95160" y="1417320"/>
            <a:ext cx="73152" cy="132588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1581912"/>
            <a:ext cx="3840479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Neden event_id?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1993392"/>
            <a:ext cx="3822191" cy="63093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5B6770"/>
                </a:solidFill>
                <a:latin typeface="Aptos"/>
              </a:rPr>
              <a:t>Mesaj yeniden işlenirse aynı gerçek olayı yeniden tanıyabilmek için kalıcı kimlik gerekir.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95160" y="3017520"/>
            <a:ext cx="4206240" cy="1325880"/>
          </a:xfrm>
          <a:prstGeom prst="roundRect">
            <a:avLst/>
          </a:prstGeom>
          <a:solidFill>
            <a:srgbClr val="F5F8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95160" y="3017520"/>
            <a:ext cx="73152" cy="1325880"/>
          </a:xfrm>
          <a:prstGeom prst="rect">
            <a:avLst/>
          </a:prstGeom>
          <a:solidFill>
            <a:srgbClr val="EF6C00"/>
          </a:solidFill>
          <a:ln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0" y="3182112"/>
            <a:ext cx="3840479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Hata halinde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3593591"/>
            <a:ext cx="3822191" cy="63093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5B6770"/>
                </a:solidFill>
                <a:latin typeface="Aptos"/>
              </a:rPr>
              <a:t>API geçici yanıt vermezse producer kontrollü yeniden dener; Kafka zaten almış mesajlar kaybolmaz.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95160" y="4617720"/>
            <a:ext cx="4206240" cy="1005840"/>
          </a:xfrm>
          <a:prstGeom prst="roundRect">
            <a:avLst/>
          </a:prstGeom>
          <a:solidFill>
            <a:srgbClr val="F5F8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95160" y="4617720"/>
            <a:ext cx="73152" cy="100584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4782312"/>
            <a:ext cx="3840479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Doğrulama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5193792"/>
            <a:ext cx="3822191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5B6770"/>
                </a:solidFill>
                <a:latin typeface="Aptos"/>
              </a:rPr>
              <a:t>Producer loglarında poll sayısı / gönderilen mesaj; Kafka topic’inde yeni kayıtlar izlenir.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515600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tos"/>
              </a:rPr>
              <a:t>2. Kafka: veri hattının omurgası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50392"/>
            <a:ext cx="1051560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5B6770"/>
                </a:solidFill>
                <a:latin typeface="Aptos"/>
              </a:rPr>
              <a:t>Kafka, üretici ile tüketicileri birbirinden bağımsız çalıştıran kalıcı mesaj katmanıdır.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38328"/>
            <a:ext cx="50292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200" b="1">
                <a:solidFill>
                  <a:srgbClr val="1976D2"/>
                </a:solidFill>
                <a:latin typeface="Aptos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92240"/>
            <a:ext cx="11064240" cy="9144"/>
          </a:xfrm>
          <a:prstGeom prst="rect">
            <a:avLst/>
          </a:prstGeom>
          <a:solidFill>
            <a:srgbClr val="D9E2E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56248"/>
            <a:ext cx="484632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0">
                <a:solidFill>
                  <a:srgbClr val="5B6770"/>
                </a:solidFill>
                <a:latin typeface="Aptos"/>
              </a:rPr>
              <a:t>Flight Data Pipeline • Staj Projesi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1645920" cy="914400"/>
          </a:xfrm>
          <a:prstGeom prst="round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487168"/>
            <a:ext cx="1499616" cy="43891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Producer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889504"/>
            <a:ext cx="1499616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ptos"/>
              </a:rPr>
              <a:t>üretir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9039" y="2240280"/>
            <a:ext cx="2194560" cy="1188720"/>
          </a:xfrm>
          <a:prstGeom prst="roundRect">
            <a:avLst/>
          </a:prstGeom>
          <a:solidFill>
            <a:srgbClr val="EF6C00"/>
          </a:solidFill>
          <a:ln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22191" y="2350008"/>
            <a:ext cx="2048255" cy="570585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aircraft.positions
.raw.v1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22191" y="2905963"/>
            <a:ext cx="2048255" cy="38039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ptos"/>
              </a:rPr>
              <a:t>Kafka topic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1325880"/>
            <a:ext cx="1691640" cy="914400"/>
          </a:xfrm>
          <a:prstGeom prst="round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88352" y="1435607"/>
            <a:ext cx="1545336" cy="43891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Mongo writer
group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88352" y="1837943"/>
            <a:ext cx="1545336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ptos"/>
              </a:rPr>
              <a:t>tüm mesajlar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3520440"/>
            <a:ext cx="1691640" cy="914400"/>
          </a:xfrm>
          <a:prstGeom prst="roundRect">
            <a:avLst/>
          </a:prstGeom>
          <a:solidFill>
            <a:srgbClr val="6A1B9A"/>
          </a:solidFill>
          <a:ln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88352" y="3630168"/>
            <a:ext cx="1545336" cy="43891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Realtime gateway
group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88352" y="4032504"/>
            <a:ext cx="1545336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ptos"/>
              </a:rPr>
              <a:t>tüm mesajlar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377440" y="2834640"/>
            <a:ext cx="1371599" cy="0"/>
          </a:xfrm>
          <a:prstGeom prst="line">
            <a:avLst/>
          </a:prstGeom>
          <a:ln w="25400">
            <a:solidFill>
              <a:srgbClr val="19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5943600" y="1792224"/>
            <a:ext cx="1371600" cy="841248"/>
          </a:xfrm>
          <a:prstGeom prst="line">
            <a:avLst/>
          </a:prstGeom>
          <a:ln w="25400">
            <a:solidFill>
              <a:srgbClr val="19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943600" y="3035808"/>
            <a:ext cx="1371600" cy="932688"/>
          </a:xfrm>
          <a:prstGeom prst="line">
            <a:avLst/>
          </a:prstGeom>
          <a:ln w="25400">
            <a:solidFill>
              <a:srgbClr val="19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31520" y="4892040"/>
            <a:ext cx="9784080" cy="868680"/>
          </a:xfrm>
          <a:prstGeom prst="roundRect">
            <a:avLst/>
          </a:prstGeom>
          <a:solidFill>
            <a:srgbClr val="F5F8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892040"/>
            <a:ext cx="73152" cy="868680"/>
          </a:xfrm>
          <a:prstGeom prst="rect">
            <a:avLst/>
          </a:prstGeom>
          <a:solidFill>
            <a:srgbClr val="C62828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5056631"/>
            <a:ext cx="9418319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Önemli ayrım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5468112"/>
            <a:ext cx="9400032" cy="173735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5B6770"/>
                </a:solidFill>
                <a:latin typeface="Aptos"/>
              </a:rPr>
              <a:t>Aynı consumer group olsalardı mesajları paylaşırlar ve iki işlevin de her mesajı görmesi garanti olmazdı.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897880"/>
            <a:ext cx="987552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102A43"/>
                </a:solidFill>
                <a:latin typeface="Aptos"/>
              </a:rPr>
              <a:t>Ayrı group → aynı olayın iki farklı iş amacı için bağımsız okunması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515600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tos"/>
              </a:rPr>
              <a:t>3. MongoDB: geçmiş ve canlı durum ayrımı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50392"/>
            <a:ext cx="1051560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5B6770"/>
                </a:solidFill>
                <a:latin typeface="Aptos"/>
              </a:rPr>
              <a:t>Tek koleksiyonla hem arşiv hem ekran performansı hedeflenmedi.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38328"/>
            <a:ext cx="50292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200" b="1">
                <a:solidFill>
                  <a:srgbClr val="1976D2"/>
                </a:solidFill>
                <a:latin typeface="Aptos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92240"/>
            <a:ext cx="11064240" cy="9144"/>
          </a:xfrm>
          <a:prstGeom prst="rect">
            <a:avLst/>
          </a:prstGeom>
          <a:solidFill>
            <a:srgbClr val="D9E2E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56248"/>
            <a:ext cx="484632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0">
                <a:solidFill>
                  <a:srgbClr val="5B6770"/>
                </a:solidFill>
                <a:latin typeface="Aptos"/>
              </a:rPr>
              <a:t>Flight Data Pipeline • Staj Projesi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63040"/>
            <a:ext cx="4800600" cy="2926080"/>
          </a:xfrm>
          <a:prstGeom prst="roundRect">
            <a:avLst/>
          </a:prstGeom>
          <a:solidFill>
            <a:srgbClr val="F5F8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463040"/>
            <a:ext cx="73152" cy="29260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627632"/>
            <a:ext cx="443484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raw_positions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039112"/>
            <a:ext cx="4416552" cy="223113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5B6770"/>
                </a:solidFill>
                <a:latin typeface="Aptos"/>
              </a:rPr>
              <a:t>Her Kafka olayının tarihçesi
• _id = event_id
• rota / analiz / hata inceleme
• index: icao24 + observed_at
• 48 saat TTL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463040"/>
            <a:ext cx="4800600" cy="2926080"/>
          </a:xfrm>
          <a:prstGeom prst="roundRect">
            <a:avLst/>
          </a:prstGeom>
          <a:solidFill>
            <a:srgbClr val="F5F8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463040"/>
            <a:ext cx="73152" cy="292608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1627632"/>
            <a:ext cx="443484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live_positions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039112"/>
            <a:ext cx="4416552" cy="223113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5B6770"/>
                </a:solidFill>
                <a:latin typeface="Aptos"/>
              </a:rPr>
              <a:t>Her uçak için son durum
• _id = icao24
• frontend ilk snapshot kaynağı
• hızlı canlı liste sorgusu
• 7 gün TTL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623560" y="2880360"/>
            <a:ext cx="914400" cy="0"/>
          </a:xfrm>
          <a:prstGeom prst="line">
            <a:avLst/>
          </a:prstGeom>
          <a:ln w="25400">
            <a:solidFill>
              <a:srgbClr val="8FA7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05840" y="5074920"/>
            <a:ext cx="1005840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900" b="1">
                <a:solidFill>
                  <a:srgbClr val="102A43"/>
                </a:solidFill>
                <a:latin typeface="Aptos"/>
              </a:rPr>
              <a:t>Ham olay = analiz ve geçmiş • Son durum = canlı kullanıcı deneyimi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515600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tos"/>
              </a:rPr>
              <a:t>4. Teslim garantisi: neden veri kaybolmuyor?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50392"/>
            <a:ext cx="1051560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5B6770"/>
                </a:solidFill>
                <a:latin typeface="Aptos"/>
              </a:rPr>
              <a:t>Tasarım: at-least-once teslim + idempotent MongoDB yazımı.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38328"/>
            <a:ext cx="50292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200" b="1">
                <a:solidFill>
                  <a:srgbClr val="1976D2"/>
                </a:solidFill>
                <a:latin typeface="Aptos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92240"/>
            <a:ext cx="11064240" cy="9144"/>
          </a:xfrm>
          <a:prstGeom prst="rect">
            <a:avLst/>
          </a:prstGeom>
          <a:solidFill>
            <a:srgbClr val="D9E2E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56248"/>
            <a:ext cx="484632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0">
                <a:solidFill>
                  <a:srgbClr val="5B6770"/>
                </a:solidFill>
                <a:latin typeface="Aptos"/>
              </a:rPr>
              <a:t>Flight Data Pipeline • Staj Projesi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74519"/>
            <a:ext cx="2331720" cy="1143000"/>
          </a:xfrm>
          <a:prstGeom prst="roundRect">
            <a:avLst/>
          </a:prstGeom>
          <a:solidFill>
            <a:srgbClr val="F5F8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22376" y="2112264"/>
            <a:ext cx="502920" cy="502920"/>
          </a:xfrm>
          <a:prstGeom prst="round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" y="2221992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194560"/>
            <a:ext cx="13716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400" b="1">
                <a:solidFill>
                  <a:srgbClr val="102A43"/>
                </a:solidFill>
                <a:latin typeface="Aptos"/>
              </a:rPr>
              <a:t>Kafka mesajı alınır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26079" y="2450592"/>
            <a:ext cx="521209" cy="0"/>
          </a:xfrm>
          <a:prstGeom prst="line">
            <a:avLst/>
          </a:prstGeom>
          <a:ln w="25400">
            <a:solidFill>
              <a:srgbClr val="19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47288" y="1874519"/>
            <a:ext cx="2331720" cy="1143000"/>
          </a:xfrm>
          <a:prstGeom prst="roundRect">
            <a:avLst/>
          </a:prstGeom>
          <a:solidFill>
            <a:srgbClr val="F5F8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75304" y="2112264"/>
            <a:ext cx="502920" cy="502920"/>
          </a:xfrm>
          <a:prstGeom prst="round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75304" y="2221992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24528" y="2194560"/>
            <a:ext cx="13716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400" b="1">
                <a:solidFill>
                  <a:srgbClr val="102A43"/>
                </a:solidFill>
                <a:latin typeface="Aptos"/>
              </a:rPr>
              <a:t>raw_positions upsert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779008" y="2450592"/>
            <a:ext cx="521208" cy="0"/>
          </a:xfrm>
          <a:prstGeom prst="line">
            <a:avLst/>
          </a:prstGeom>
          <a:ln w="25400">
            <a:solidFill>
              <a:srgbClr val="19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00216" y="1874519"/>
            <a:ext cx="2331720" cy="1143000"/>
          </a:xfrm>
          <a:prstGeom prst="roundRect">
            <a:avLst/>
          </a:prstGeom>
          <a:solidFill>
            <a:srgbClr val="F5F8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8232" y="2112264"/>
            <a:ext cx="502920" cy="502920"/>
          </a:xfrm>
          <a:prstGeom prst="round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8232" y="2221992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77456" y="2194560"/>
            <a:ext cx="13716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400" b="1">
                <a:solidFill>
                  <a:srgbClr val="102A43"/>
                </a:solidFill>
                <a:latin typeface="Aptos"/>
              </a:rPr>
              <a:t>live_positions upsert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631936" y="2450592"/>
            <a:ext cx="521208" cy="0"/>
          </a:xfrm>
          <a:prstGeom prst="line">
            <a:avLst/>
          </a:prstGeom>
          <a:ln w="25400">
            <a:solidFill>
              <a:srgbClr val="19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153144" y="1874519"/>
            <a:ext cx="2331720" cy="1143000"/>
          </a:xfrm>
          <a:prstGeom prst="roundRect">
            <a:avLst/>
          </a:prstGeom>
          <a:solidFill>
            <a:srgbClr val="F5F8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81160" y="2112264"/>
            <a:ext cx="502920" cy="502920"/>
          </a:xfrm>
          <a:prstGeom prst="roundRect">
            <a:avLst/>
          </a:prstGeom>
          <a:solidFill>
            <a:srgbClr val="EF6C00"/>
          </a:solidFill>
          <a:ln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81160" y="2221992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30384" y="2194560"/>
            <a:ext cx="13716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400" b="1">
                <a:solidFill>
                  <a:srgbClr val="102A43"/>
                </a:solidFill>
                <a:latin typeface="Aptos"/>
              </a:rPr>
              <a:t>Offset commit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3749039"/>
            <a:ext cx="4983480" cy="1234440"/>
          </a:xfrm>
          <a:prstGeom prst="roundRect">
            <a:avLst/>
          </a:prstGeom>
          <a:solidFill>
            <a:srgbClr val="F5F8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68680" y="3749039"/>
            <a:ext cx="73152" cy="1234440"/>
          </a:xfrm>
          <a:prstGeom prst="rect">
            <a:avLst/>
          </a:prstGeom>
          <a:solidFill>
            <a:srgbClr val="EF6C00"/>
          </a:solidFill>
          <a:ln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3913631"/>
            <a:ext cx="46177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Çökme örneği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325112"/>
            <a:ext cx="4599432" cy="5394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5B6770"/>
                </a:solidFill>
                <a:latin typeface="Aptos"/>
              </a:rPr>
              <a:t>MongoDB yazımından sonra fakat offset commit’ten önce süreç çökerse Kafka mesajı yeniden gönderir.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3749039"/>
            <a:ext cx="4983480" cy="1234440"/>
          </a:xfrm>
          <a:prstGeom prst="roundRect">
            <a:avLst/>
          </a:prstGeom>
          <a:solidFill>
            <a:srgbClr val="F5F8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63640" y="3749039"/>
            <a:ext cx="73152" cy="123444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3913631"/>
            <a:ext cx="46177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Tekrarın güvenliği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325112"/>
            <a:ext cx="4599432" cy="5394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5B6770"/>
                </a:solidFill>
                <a:latin typeface="Aptos"/>
              </a:rPr>
              <a:t>event_id ile yapılan upsert, aynı Kafka mesajının ikinci kez ayrı raw belge yaratmasını önler.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532120"/>
            <a:ext cx="103327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C62828"/>
                </a:solidFill>
                <a:latin typeface="Aptos"/>
              </a:rPr>
              <a:t>Bu, uçtan uca exactly-once değildir; fakat pratikte veri kaybı ve duplicate riskini yönetir.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515600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tos"/>
              </a:rPr>
              <a:t>5. Bozuk mesaj ve geçici hata yönetimi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50392"/>
            <a:ext cx="1051560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5B6770"/>
                </a:solidFill>
                <a:latin typeface="Aptos"/>
              </a:rPr>
              <a:t>Ana akışın durmaması, hatanın görünmez olması anlamına gelmez.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38328"/>
            <a:ext cx="50292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200" b="1">
                <a:solidFill>
                  <a:srgbClr val="1976D2"/>
                </a:solidFill>
                <a:latin typeface="Aptos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92240"/>
            <a:ext cx="11064240" cy="9144"/>
          </a:xfrm>
          <a:prstGeom prst="rect">
            <a:avLst/>
          </a:prstGeom>
          <a:solidFill>
            <a:srgbClr val="D9E2E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56248"/>
            <a:ext cx="484632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0">
                <a:solidFill>
                  <a:srgbClr val="5B6770"/>
                </a:solidFill>
                <a:latin typeface="Aptos"/>
              </a:rPr>
              <a:t>Flight Data Pipeline • Staj Projesi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57400"/>
            <a:ext cx="1645920" cy="822960"/>
          </a:xfrm>
          <a:prstGeom prst="round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167128"/>
            <a:ext cx="1499616" cy="3950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Geçerli mesaj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2057400"/>
            <a:ext cx="1737360" cy="822960"/>
          </a:xfrm>
          <a:prstGeom prst="round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82112" y="2167128"/>
            <a:ext cx="1591056" cy="3950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MongoDB yazımı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1097280"/>
            <a:ext cx="1554480" cy="822960"/>
          </a:xfrm>
          <a:prstGeom prst="round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42432" y="1207007"/>
            <a:ext cx="1408176" cy="3950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Başarılı
commit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0" y="3017520"/>
            <a:ext cx="1554480" cy="822960"/>
          </a:xfrm>
          <a:prstGeom prst="roundRect">
            <a:avLst/>
          </a:prstGeom>
          <a:solidFill>
            <a:srgbClr val="EF6C00"/>
          </a:solidFill>
          <a:ln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42432" y="3127248"/>
            <a:ext cx="1408176" cy="3950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Geçici hata
retry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3017520"/>
            <a:ext cx="1554480" cy="822960"/>
          </a:xfrm>
          <a:prstGeom prst="roundRect">
            <a:avLst/>
          </a:prstGeom>
          <a:solidFill>
            <a:srgbClr val="C62828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3127248"/>
            <a:ext cx="1408176" cy="3950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Kalıcı bozuk
DLQ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377440" y="2468880"/>
            <a:ext cx="731520" cy="0"/>
          </a:xfrm>
          <a:prstGeom prst="line">
            <a:avLst/>
          </a:prstGeom>
          <a:ln w="25400">
            <a:solidFill>
              <a:srgbClr val="19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4846320" y="1508760"/>
            <a:ext cx="822960" cy="731520"/>
          </a:xfrm>
          <a:prstGeom prst="line">
            <a:avLst/>
          </a:prstGeom>
          <a:ln w="25400">
            <a:solidFill>
              <a:srgbClr val="19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846320" y="2697480"/>
            <a:ext cx="822960" cy="731520"/>
          </a:xfrm>
          <a:prstGeom prst="line">
            <a:avLst/>
          </a:prstGeom>
          <a:ln w="25400">
            <a:solidFill>
              <a:srgbClr val="19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223760" y="3429000"/>
            <a:ext cx="1005840" cy="0"/>
          </a:xfrm>
          <a:prstGeom prst="line">
            <a:avLst/>
          </a:prstGeom>
          <a:ln w="25400">
            <a:solidFill>
              <a:srgbClr val="19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22960" y="4709160"/>
            <a:ext cx="10241280" cy="11430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100"/>
              </a:spcAft>
              <a:defRPr sz="1400">
                <a:solidFill>
                  <a:srgbClr val="172B4D"/>
                </a:solidFill>
                <a:latin typeface="Aptos"/>
              </a:defRPr>
            </a:pPr>
            <a:r>
              <a:t>• Geçici MongoDB hatalarında sınırlı exponential backoff ile retry yapılır.</a:t>
            </a:r>
          </a:p>
          <a:p>
            <a:pPr>
              <a:spcAft>
                <a:spcPts val="1100"/>
              </a:spcAft>
              <a:defRPr sz="1400">
                <a:solidFill>
                  <a:srgbClr val="172B4D"/>
                </a:solidFill>
                <a:latin typeface="Aptos"/>
              </a:defRPr>
            </a:pPr>
            <a:r>
              <a:t>• Kalıcı biçimde bozuk mesajlar Base64 kaynak zarfıyla DLQ topic’ine taşınır.</a:t>
            </a:r>
          </a:p>
          <a:p>
            <a:pPr>
              <a:spcAft>
                <a:spcPts val="1100"/>
              </a:spcAft>
              <a:defRPr sz="1400">
                <a:solidFill>
                  <a:srgbClr val="172B4D"/>
                </a:solidFill>
                <a:latin typeface="Aptos"/>
              </a:defRPr>
            </a:pPr>
            <a:r>
              <a:t>• DLQ teslimi doğrulanmadan ana offset ilerletilmez.</a:t>
            </a:r>
          </a:p>
          <a:p>
            <a:pPr>
              <a:spcAft>
                <a:spcPts val="1100"/>
              </a:spcAft>
              <a:defRPr sz="1400">
                <a:solidFill>
                  <a:srgbClr val="172B4D"/>
                </a:solidFill>
                <a:latin typeface="Aptos"/>
              </a:defRPr>
            </a:pPr>
            <a:r>
              <a:t>• DLQ operasyonel olarak izlenmelidir; hata saklanmaz, ayrıştırılır.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515600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tos"/>
              </a:rPr>
              <a:t>6. FastAPI: frontend için güvenli geçit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50392"/>
            <a:ext cx="1051560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5B6770"/>
                </a:solidFill>
                <a:latin typeface="Aptos"/>
              </a:rPr>
              <a:t>Tarayıcı Kafka’ya veya MongoDB’ye doğrudan bağlanmaz.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38328"/>
            <a:ext cx="50292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200" b="1">
                <a:solidFill>
                  <a:srgbClr val="1976D2"/>
                </a:solidFill>
                <a:latin typeface="Aptos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92240"/>
            <a:ext cx="11064240" cy="9144"/>
          </a:xfrm>
          <a:prstGeom prst="rect">
            <a:avLst/>
          </a:prstGeom>
          <a:solidFill>
            <a:srgbClr val="D9E2E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56248"/>
            <a:ext cx="484632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0">
                <a:solidFill>
                  <a:srgbClr val="5B6770"/>
                </a:solidFill>
                <a:latin typeface="Aptos"/>
              </a:rPr>
              <a:t>Flight Data Pipeline • Staj Projesi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65960"/>
            <a:ext cx="1645920" cy="822960"/>
          </a:xfrm>
          <a:prstGeom prst="round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075688"/>
            <a:ext cx="1499616" cy="3950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MongoDB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426817"/>
            <a:ext cx="1499616" cy="26334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ptos"/>
              </a:rPr>
              <a:t>snapshot + history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840480"/>
            <a:ext cx="1645920" cy="822960"/>
          </a:xfrm>
          <a:prstGeom prst="roundRect">
            <a:avLst/>
          </a:prstGeom>
          <a:solidFill>
            <a:srgbClr val="EF6C00"/>
          </a:solidFill>
          <a:ln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50208"/>
            <a:ext cx="1499616" cy="3950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Kafka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4301337"/>
            <a:ext cx="1499616" cy="26334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ptos"/>
              </a:rPr>
              <a:t>realtime group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0" y="2880360"/>
            <a:ext cx="1920240" cy="1051560"/>
          </a:xfrm>
          <a:prstGeom prst="roundRect">
            <a:avLst/>
          </a:prstGeom>
          <a:solidFill>
            <a:srgbClr val="6A1B9A"/>
          </a:solidFill>
          <a:ln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87952" y="2990088"/>
            <a:ext cx="1773936" cy="5047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FastAPI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87952" y="3469233"/>
            <a:ext cx="1773936" cy="336499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ptos"/>
              </a:rPr>
              <a:t>REST + WebSocket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2880360"/>
            <a:ext cx="1920240" cy="1051560"/>
          </a:xfrm>
          <a:prstGeom prst="round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9912" y="2990088"/>
            <a:ext cx="1773936" cy="5047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React / Nginx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2" y="3469233"/>
            <a:ext cx="1773936" cy="336499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ptos"/>
              </a:rPr>
              <a:t>tarayıcı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423160" y="2377440"/>
            <a:ext cx="1691640" cy="896112"/>
          </a:xfrm>
          <a:prstGeom prst="line">
            <a:avLst/>
          </a:prstGeom>
          <a:ln w="25400">
            <a:solidFill>
              <a:srgbClr val="19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423160" y="3520440"/>
            <a:ext cx="1691640" cy="731520"/>
          </a:xfrm>
          <a:prstGeom prst="line">
            <a:avLst/>
          </a:prstGeom>
          <a:ln w="25400">
            <a:solidFill>
              <a:srgbClr val="19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035040" y="3401568"/>
            <a:ext cx="2331720" cy="0"/>
          </a:xfrm>
          <a:prstGeom prst="line">
            <a:avLst/>
          </a:prstGeom>
          <a:ln w="25400">
            <a:solidFill>
              <a:srgbClr val="19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31520" y="5074920"/>
            <a:ext cx="4892040" cy="868680"/>
          </a:xfrm>
          <a:prstGeom prst="roundRect">
            <a:avLst/>
          </a:prstGeom>
          <a:solidFill>
            <a:srgbClr val="F5F8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5074920"/>
            <a:ext cx="73152" cy="86868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5239512"/>
            <a:ext cx="4526279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REST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5650992"/>
            <a:ext cx="4507992" cy="173735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5B6770"/>
                </a:solidFill>
                <a:latin typeface="Aptos"/>
              </a:rPr>
              <a:t>/health, /api/aircraft, tek uçak, geçmiş, istatistik. İlk açılıştaki güvenilir durum kaynağıdır.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5074920"/>
            <a:ext cx="4892040" cy="868680"/>
          </a:xfrm>
          <a:prstGeom prst="roundRect">
            <a:avLst/>
          </a:prstGeom>
          <a:solidFill>
            <a:srgbClr val="F5F8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5074920"/>
            <a:ext cx="73152" cy="868680"/>
          </a:xfrm>
          <a:prstGeom prst="rect">
            <a:avLst/>
          </a:prstGeom>
          <a:solidFill>
            <a:srgbClr val="6A1B9A"/>
          </a:solidFill>
          <a:ln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5239512"/>
            <a:ext cx="4526279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WebSocket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650992"/>
            <a:ext cx="4507992" cy="173735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5B6770"/>
                </a:solidFill>
                <a:latin typeface="Aptos"/>
              </a:rPr>
              <a:t>/ws/aircraft. Yeni uçak konumlarını anlık iter; bağlantı sonrası REST ile yeniden eşitlenir.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515600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tos"/>
              </a:rPr>
              <a:t>7. React frontend: canlı, anlaşılır ve dayanıklı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50392"/>
            <a:ext cx="1051560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5B6770"/>
                </a:solidFill>
                <a:latin typeface="Aptos"/>
              </a:rPr>
              <a:t>Kullanıcının gördüğü ekran, gerçek zamanlı veri hattının son adımıdır.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38328"/>
            <a:ext cx="50292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200" b="1">
                <a:solidFill>
                  <a:srgbClr val="1976D2"/>
                </a:solidFill>
                <a:latin typeface="Aptos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92240"/>
            <a:ext cx="11064240" cy="9144"/>
          </a:xfrm>
          <a:prstGeom prst="rect">
            <a:avLst/>
          </a:prstGeom>
          <a:solidFill>
            <a:srgbClr val="D9E2E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56248"/>
            <a:ext cx="484632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0">
                <a:solidFill>
                  <a:srgbClr val="5B6770"/>
                </a:solidFill>
                <a:latin typeface="Aptos"/>
              </a:rPr>
              <a:t>Flight Data Pipeline • Staj Projesi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3474720" cy="1874519"/>
          </a:xfrm>
          <a:prstGeom prst="roundRect">
            <a:avLst/>
          </a:prstGeom>
          <a:solidFill>
            <a:srgbClr val="F5F8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325880"/>
            <a:ext cx="73152" cy="1874519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90472"/>
            <a:ext cx="31089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Canlı harita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01952"/>
            <a:ext cx="3090672" cy="1179575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5B6770"/>
                </a:solidFill>
                <a:latin typeface="Aptos"/>
              </a:rPr>
              <a:t>MapLibre varsayılan motor. Uçak sembolleri uçuş yönüne göre döner; irtifa renkleri yüksek kontrastlıdır.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325880"/>
            <a:ext cx="3474720" cy="1874519"/>
          </a:xfrm>
          <a:prstGeom prst="roundRect">
            <a:avLst/>
          </a:prstGeom>
          <a:solidFill>
            <a:srgbClr val="F5F8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1325880"/>
            <a:ext cx="73152" cy="1874519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2" y="1490472"/>
            <a:ext cx="31089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Geçmiş rota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1901952"/>
            <a:ext cx="3090672" cy="1179575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5B6770"/>
                </a:solidFill>
                <a:latin typeface="Aptos"/>
              </a:rPr>
              <a:t>Uçağa tıklanınca raw_positions üzerinden geçmiş noktalar okunur; rota irtifa aralığına göre renklidir.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325880"/>
            <a:ext cx="3474720" cy="1874519"/>
          </a:xfrm>
          <a:prstGeom prst="roundRect">
            <a:avLst/>
          </a:prstGeom>
          <a:solidFill>
            <a:srgbClr val="F5F8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325880"/>
            <a:ext cx="73152" cy="1874519"/>
          </a:xfrm>
          <a:prstGeom prst="rect">
            <a:avLst/>
          </a:prstGeom>
          <a:solidFill>
            <a:srgbClr val="EF6C00"/>
          </a:solidFill>
          <a:ln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1490472"/>
            <a:ext cx="31089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Uyumluluk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1901952"/>
            <a:ext cx="3090672" cy="1179575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5B6770"/>
                </a:solidFill>
                <a:latin typeface="Aptos"/>
              </a:rPr>
              <a:t>WebGL ya da yükleme hatasında Leaflet otomatik fallback olur; kullanıcıya yeniden deneme seçeneği sunulur.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840480"/>
            <a:ext cx="10241280" cy="1554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172B4D"/>
                </a:solidFill>
                <a:latin typeface="Aptos"/>
              </a:defRPr>
            </a:pPr>
            <a:r>
              <a:t>• Sadece son 20 dakika içinde gözlenen uçaklar canlı ekranda gösterilir.</a:t>
            </a:r>
          </a:p>
          <a:p>
            <a:pPr>
              <a:spcAft>
                <a:spcPts val="1100"/>
              </a:spcAft>
              <a:defRPr sz="1600">
                <a:solidFill>
                  <a:srgbClr val="172B4D"/>
                </a:solidFill>
                <a:latin typeface="Aptos"/>
              </a:defRPr>
            </a:pPr>
            <a:r>
              <a:t>• WebSocket mesajları requestAnimationFrame ile toplu uygulanır; her mesaj ayrı render yaratmaz.</a:t>
            </a:r>
          </a:p>
          <a:p>
            <a:pPr>
              <a:spcAft>
                <a:spcPts val="1100"/>
              </a:spcAft>
              <a:defRPr sz="1600">
                <a:solidFill>
                  <a:srgbClr val="172B4D"/>
                </a:solidFill>
                <a:latin typeface="Aptos"/>
              </a:defRPr>
            </a:pPr>
            <a:r>
              <a:t>• Nginx aynı-origin proxy ile REST ve WebSocket’i frontend üzerinden güvenli biçimde iletir.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515600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tos"/>
              </a:rPr>
              <a:t>8. Docker Compose: taşınabilir yerel sistem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50392"/>
            <a:ext cx="1051560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5B6770"/>
                </a:solidFill>
                <a:latin typeface="Aptos"/>
              </a:rPr>
              <a:t>Her bileşen ayrı container; bütün sistem tek Compose tanımıyla ayağa kalkar.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38328"/>
            <a:ext cx="50292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200" b="1">
                <a:solidFill>
                  <a:srgbClr val="1976D2"/>
                </a:solidFill>
                <a:latin typeface="Aptos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92240"/>
            <a:ext cx="11064240" cy="9144"/>
          </a:xfrm>
          <a:prstGeom prst="rect">
            <a:avLst/>
          </a:prstGeom>
          <a:solidFill>
            <a:srgbClr val="D9E2E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56248"/>
            <a:ext cx="484632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0">
                <a:solidFill>
                  <a:srgbClr val="5B6770"/>
                </a:solidFill>
                <a:latin typeface="Aptos"/>
              </a:rPr>
              <a:t>Flight Data Pipeline • Staj Projesi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2240280" cy="731520"/>
          </a:xfrm>
          <a:prstGeom prst="roundRect">
            <a:avLst/>
          </a:prstGeom>
          <a:solidFill>
            <a:srgbClr val="C62828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527048"/>
            <a:ext cx="2093976" cy="351129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kafka-volume-init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39" y="1417320"/>
            <a:ext cx="2240280" cy="731520"/>
          </a:xfrm>
          <a:prstGeom prst="roundRect">
            <a:avLst/>
          </a:prstGeom>
          <a:solidFill>
            <a:srgbClr val="EF6C00"/>
          </a:solidFill>
          <a:ln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1" y="1527048"/>
            <a:ext cx="2093976" cy="351129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Kafka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417320"/>
            <a:ext cx="2240280" cy="731520"/>
          </a:xfrm>
          <a:prstGeom prst="roundRect">
            <a:avLst/>
          </a:prstGeom>
          <a:solidFill>
            <a:srgbClr val="EF6C00"/>
          </a:solidFill>
          <a:ln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527048"/>
            <a:ext cx="2093976" cy="351129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topic-init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1417320"/>
            <a:ext cx="2240280" cy="731520"/>
          </a:xfrm>
          <a:prstGeom prst="round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71432" y="1527048"/>
            <a:ext cx="2093976" cy="351129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MongoDB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651760"/>
            <a:ext cx="2240280" cy="731520"/>
          </a:xfrm>
          <a:prstGeom prst="round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2761488"/>
            <a:ext cx="2093976" cy="351129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producer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20439" y="2651760"/>
            <a:ext cx="2240280" cy="731520"/>
          </a:xfrm>
          <a:prstGeom prst="round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93591" y="2761488"/>
            <a:ext cx="2093976" cy="351129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consumer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59" y="2651760"/>
            <a:ext cx="2240280" cy="731520"/>
          </a:xfrm>
          <a:prstGeom prst="roundRect">
            <a:avLst/>
          </a:prstGeom>
          <a:solidFill>
            <a:srgbClr val="6A1B9A"/>
          </a:solidFill>
          <a:ln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2761488"/>
            <a:ext cx="2093976" cy="351129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backend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98280" y="2651760"/>
            <a:ext cx="2240280" cy="731520"/>
          </a:xfrm>
          <a:prstGeom prst="round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71432" y="2761488"/>
            <a:ext cx="2093976" cy="351129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frontend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206240"/>
            <a:ext cx="4937760" cy="1143000"/>
          </a:xfrm>
          <a:prstGeom prst="roundRect">
            <a:avLst/>
          </a:prstGeom>
          <a:solidFill>
            <a:srgbClr val="F5F8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4206240"/>
            <a:ext cx="73152" cy="114300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4370831"/>
            <a:ext cx="45720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Kalıcı veri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782312"/>
            <a:ext cx="4553712" cy="4480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5B6770"/>
                </a:solidFill>
                <a:latin typeface="Aptos"/>
              </a:rPr>
              <a:t>Kafka ve MongoDB named volume kullanır. Normal docker compose down veriyi korur; down -v veri siler.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206240"/>
            <a:ext cx="4937760" cy="1143000"/>
          </a:xfrm>
          <a:prstGeom prst="roundRect">
            <a:avLst/>
          </a:prstGeom>
          <a:solidFill>
            <a:srgbClr val="F5F8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4206240"/>
            <a:ext cx="73152" cy="114300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370831"/>
            <a:ext cx="45720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Ağ yüzeyi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782312"/>
            <a:ext cx="4553712" cy="4480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5B6770"/>
                </a:solidFill>
                <a:latin typeface="Aptos"/>
              </a:rPr>
              <a:t>Release Compose yalnız frontend’i 127.0.0.1:5175 üzerinde host’a açar. Backend/Kafka/Mongo iç ağda kalır.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715000"/>
            <a:ext cx="1051560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400" b="1">
                <a:solidFill>
                  <a:srgbClr val="102A43"/>
                </a:solidFill>
                <a:latin typeface="Aptos"/>
              </a:rPr>
              <a:t>Temiz Kafka volume’larda izin sorununu çözmek için kafka-volume-init, broker başlatılmadan yalnız volume sahibini düzeltir.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515600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tos"/>
              </a:rPr>
              <a:t>9. Kubernetes öğrenme yolu ve GitOps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50392"/>
            <a:ext cx="1051560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5B6770"/>
                </a:solidFill>
                <a:latin typeface="Aptos"/>
              </a:rPr>
              <a:t>Yerelde çalışan yapı, Kubernetes kaynaklarına aşamalı olarak taşındı.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38328"/>
            <a:ext cx="50292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200" b="1">
                <a:solidFill>
                  <a:srgbClr val="1976D2"/>
                </a:solidFill>
                <a:latin typeface="Aptos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92240"/>
            <a:ext cx="11064240" cy="9144"/>
          </a:xfrm>
          <a:prstGeom prst="rect">
            <a:avLst/>
          </a:prstGeom>
          <a:solidFill>
            <a:srgbClr val="D9E2E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56248"/>
            <a:ext cx="484632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0">
                <a:solidFill>
                  <a:srgbClr val="5B6770"/>
                </a:solidFill>
                <a:latin typeface="Aptos"/>
              </a:rPr>
              <a:t>Flight Data Pipeline • Staj Projesi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28800"/>
            <a:ext cx="1874519" cy="1417320"/>
          </a:xfrm>
          <a:prstGeom prst="roundRect">
            <a:avLst/>
          </a:prstGeom>
          <a:solidFill>
            <a:srgbClr val="F5F8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261872" y="1572768"/>
            <a:ext cx="548640" cy="548640"/>
          </a:xfrm>
          <a:prstGeom prst="roundRect">
            <a:avLst/>
          </a:prstGeom>
          <a:solidFill>
            <a:srgbClr val="6A1B9A"/>
          </a:solidFill>
          <a:ln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1691640"/>
            <a:ext cx="54864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267712"/>
            <a:ext cx="15544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200" b="1">
                <a:solidFill>
                  <a:srgbClr val="102A43"/>
                </a:solidFill>
                <a:latin typeface="Aptos"/>
              </a:rPr>
              <a:t>MongoDB + temel servisler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68879" y="2542032"/>
            <a:ext cx="457200" cy="0"/>
          </a:xfrm>
          <a:prstGeom prst="line">
            <a:avLst/>
          </a:prstGeom>
          <a:ln w="25400">
            <a:solidFill>
              <a:srgbClr val="8FA7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26079" y="1828800"/>
            <a:ext cx="1874519" cy="1417320"/>
          </a:xfrm>
          <a:prstGeom prst="roundRect">
            <a:avLst/>
          </a:prstGeom>
          <a:solidFill>
            <a:srgbClr val="F5F8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93591" y="1572768"/>
            <a:ext cx="548640" cy="548640"/>
          </a:xfrm>
          <a:prstGeom prst="roundRect">
            <a:avLst/>
          </a:prstGeom>
          <a:solidFill>
            <a:srgbClr val="6A1B9A"/>
          </a:solidFill>
          <a:ln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93591" y="1691640"/>
            <a:ext cx="54864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2267712"/>
            <a:ext cx="15544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200" b="1">
                <a:solidFill>
                  <a:srgbClr val="102A43"/>
                </a:solidFill>
                <a:latin typeface="Aptos"/>
              </a:rPr>
              <a:t>Kafka + topic init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00600" y="2542032"/>
            <a:ext cx="457200" cy="0"/>
          </a:xfrm>
          <a:prstGeom prst="line">
            <a:avLst/>
          </a:prstGeom>
          <a:ln w="25400">
            <a:solidFill>
              <a:srgbClr val="8FA7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257800" y="1828800"/>
            <a:ext cx="1874519" cy="1417320"/>
          </a:xfrm>
          <a:prstGeom prst="roundRect">
            <a:avLst/>
          </a:prstGeom>
          <a:solidFill>
            <a:srgbClr val="F5F8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25312" y="1572768"/>
            <a:ext cx="548640" cy="548640"/>
          </a:xfrm>
          <a:prstGeom prst="roundRect">
            <a:avLst/>
          </a:prstGeom>
          <a:solidFill>
            <a:srgbClr val="6A1B9A"/>
          </a:solidFill>
          <a:ln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25312" y="1691640"/>
            <a:ext cx="54864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22392" y="2267712"/>
            <a:ext cx="15544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200" b="1">
                <a:solidFill>
                  <a:srgbClr val="102A43"/>
                </a:solidFill>
                <a:latin typeface="Aptos"/>
              </a:rPr>
              <a:t>Producer + Consumer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132320" y="2542032"/>
            <a:ext cx="457200" cy="0"/>
          </a:xfrm>
          <a:prstGeom prst="line">
            <a:avLst/>
          </a:prstGeom>
          <a:ln w="25400">
            <a:solidFill>
              <a:srgbClr val="8FA7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589519" y="1828800"/>
            <a:ext cx="1874519" cy="1417320"/>
          </a:xfrm>
          <a:prstGeom prst="roundRect">
            <a:avLst/>
          </a:prstGeom>
          <a:solidFill>
            <a:srgbClr val="F5F8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57031" y="1572768"/>
            <a:ext cx="548640" cy="548640"/>
          </a:xfrm>
          <a:prstGeom prst="roundRect">
            <a:avLst/>
          </a:prstGeom>
          <a:solidFill>
            <a:srgbClr val="6A1B9A"/>
          </a:solidFill>
          <a:ln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57031" y="1691640"/>
            <a:ext cx="54864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54111" y="2267712"/>
            <a:ext cx="15544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200" b="1">
                <a:solidFill>
                  <a:srgbClr val="102A43"/>
                </a:solidFill>
                <a:latin typeface="Aptos"/>
              </a:rPr>
              <a:t>Backend + Frontend + Ingress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464039" y="2542032"/>
            <a:ext cx="457200" cy="0"/>
          </a:xfrm>
          <a:prstGeom prst="line">
            <a:avLst/>
          </a:prstGeom>
          <a:ln w="25400">
            <a:solidFill>
              <a:srgbClr val="8FA7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921240" y="1828800"/>
            <a:ext cx="1874519" cy="1417320"/>
          </a:xfrm>
          <a:prstGeom prst="roundRect">
            <a:avLst/>
          </a:prstGeom>
          <a:solidFill>
            <a:srgbClr val="F5F8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588752" y="1572768"/>
            <a:ext cx="548640" cy="548640"/>
          </a:xfrm>
          <a:prstGeom prst="roundRect">
            <a:avLst/>
          </a:prstGeom>
          <a:solidFill>
            <a:srgbClr val="6A1B9A"/>
          </a:solidFill>
          <a:ln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88752" y="1691640"/>
            <a:ext cx="54864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85832" y="2267712"/>
            <a:ext cx="15544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200" b="1">
                <a:solidFill>
                  <a:srgbClr val="102A43"/>
                </a:solidFill>
                <a:latin typeface="Aptos"/>
              </a:rPr>
              <a:t>Tam sistem + izleme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4160520"/>
            <a:ext cx="3291840" cy="1051560"/>
          </a:xfrm>
          <a:prstGeom prst="roundRect">
            <a:avLst/>
          </a:prstGeom>
          <a:solidFill>
            <a:srgbClr val="F5F8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77240" y="4160520"/>
            <a:ext cx="73152" cy="105156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4325112"/>
            <a:ext cx="29260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Deployment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4736592"/>
            <a:ext cx="2907792" cy="356615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5B6770"/>
                </a:solidFill>
                <a:latin typeface="Aptos"/>
              </a:rPr>
              <a:t>Producer, consumer, backend ve frontend çökerse Kubernetes yeni pod başlatır.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34840" y="4160520"/>
            <a:ext cx="3291840" cy="1051560"/>
          </a:xfrm>
          <a:prstGeom prst="roundRect">
            <a:avLst/>
          </a:prstGeom>
          <a:solidFill>
            <a:srgbClr val="F5F8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434840" y="4160520"/>
            <a:ext cx="73152" cy="105156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63440" y="4325112"/>
            <a:ext cx="29260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StatefulSet + PVC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4736592"/>
            <a:ext cx="2907792" cy="356615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5B6770"/>
                </a:solidFill>
                <a:latin typeface="Aptos"/>
              </a:rPr>
              <a:t>Kafka ve MongoDB yeniden başlasa bile kalıcı diskleri korunur.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92440" y="4160520"/>
            <a:ext cx="3291840" cy="1051560"/>
          </a:xfrm>
          <a:prstGeom prst="roundRect">
            <a:avLst/>
          </a:prstGeom>
          <a:solidFill>
            <a:srgbClr val="F5F8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92440" y="4160520"/>
            <a:ext cx="73152" cy="1051560"/>
          </a:xfrm>
          <a:prstGeom prst="rect">
            <a:avLst/>
          </a:prstGeom>
          <a:solidFill>
            <a:srgbClr val="6A1B9A"/>
          </a:solidFill>
          <a:ln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21040" y="4325112"/>
            <a:ext cx="29260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Argo CD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4736592"/>
            <a:ext cx="2907792" cy="356615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5B6770"/>
                </a:solidFill>
                <a:latin typeface="Aptos"/>
              </a:rPr>
              <a:t>Manifestler Git üzerinden izlenir ve cluster’a GitOps yaklaşımıyla uygulanır.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515600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tos"/>
              </a:rPr>
              <a:t>10. İzleme: sistemin sağlığını görünür kılmak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50392"/>
            <a:ext cx="1051560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5B6770"/>
                </a:solidFill>
                <a:latin typeface="Aptos"/>
              </a:rPr>
              <a:t>Çalışan sistem ile gözlemlenebilir sistem aynı şey değildir.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38328"/>
            <a:ext cx="50292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200" b="1">
                <a:solidFill>
                  <a:srgbClr val="1976D2"/>
                </a:solidFill>
                <a:latin typeface="Aptos"/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92240"/>
            <a:ext cx="11064240" cy="9144"/>
          </a:xfrm>
          <a:prstGeom prst="rect">
            <a:avLst/>
          </a:prstGeom>
          <a:solidFill>
            <a:srgbClr val="D9E2E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56248"/>
            <a:ext cx="484632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0">
                <a:solidFill>
                  <a:srgbClr val="5B6770"/>
                </a:solidFill>
                <a:latin typeface="Aptos"/>
              </a:rPr>
              <a:t>Flight Data Pipeline • Staj Projesi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331720"/>
            <a:ext cx="1508760" cy="777240"/>
          </a:xfrm>
          <a:prstGeom prst="round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441448"/>
            <a:ext cx="1362456" cy="373075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Producer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766974"/>
            <a:ext cx="1362456" cy="24871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ptos"/>
              </a:rPr>
              <a:t>metrik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2331720"/>
            <a:ext cx="1508760" cy="777240"/>
          </a:xfrm>
          <a:prstGeom prst="roundRect">
            <a:avLst/>
          </a:prstGeom>
          <a:solidFill>
            <a:srgbClr val="6A1B9A"/>
          </a:solidFill>
          <a:ln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99232" y="2441448"/>
            <a:ext cx="1362456" cy="373075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9232" y="2766974"/>
            <a:ext cx="1362456" cy="24871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ptos"/>
              </a:rPr>
              <a:t>metrik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2331720"/>
            <a:ext cx="1737360" cy="777240"/>
          </a:xfrm>
          <a:prstGeom prst="roundRect">
            <a:avLst/>
          </a:prstGeom>
          <a:solidFill>
            <a:srgbClr val="EF6C00"/>
          </a:solidFill>
          <a:ln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93792" y="2441448"/>
            <a:ext cx="1591056" cy="373075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Prometheus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93792" y="2766974"/>
            <a:ext cx="1591056" cy="24871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ptos"/>
              </a:rPr>
              <a:t>toplar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2331720"/>
            <a:ext cx="1508760" cy="777240"/>
          </a:xfrm>
          <a:prstGeom prst="round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2" y="2441448"/>
            <a:ext cx="1362456" cy="373075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Grafana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2672" y="2766974"/>
            <a:ext cx="1362456" cy="24871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ptos"/>
              </a:rPr>
              <a:t>görselleştirir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2286000" y="2560320"/>
            <a:ext cx="2834640" cy="164592"/>
          </a:xfrm>
          <a:prstGeom prst="line">
            <a:avLst/>
          </a:prstGeom>
          <a:ln w="25400">
            <a:solidFill>
              <a:srgbClr val="19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434840" y="2852928"/>
            <a:ext cx="685800" cy="0"/>
          </a:xfrm>
          <a:prstGeom prst="line">
            <a:avLst/>
          </a:prstGeom>
          <a:ln w="25400">
            <a:solidFill>
              <a:srgbClr val="19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858000" y="2724912"/>
            <a:ext cx="731520" cy="0"/>
          </a:xfrm>
          <a:prstGeom prst="line">
            <a:avLst/>
          </a:prstGeom>
          <a:ln w="25400">
            <a:solidFill>
              <a:srgbClr val="19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22960" y="4160520"/>
            <a:ext cx="10332720" cy="1417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172B4D"/>
                </a:solidFill>
                <a:latin typeface="Aptos"/>
              </a:defRPr>
            </a:pPr>
            <a:r>
              <a:t>• Prometheus ve Grafana ayrı monitoring namespace’inde yönetilir.</a:t>
            </a:r>
          </a:p>
          <a:p>
            <a:pPr>
              <a:spcAft>
                <a:spcPts val="1100"/>
              </a:spcAft>
              <a:defRPr sz="1600">
                <a:solidFill>
                  <a:srgbClr val="172B4D"/>
                </a:solidFill>
                <a:latin typeface="Aptos"/>
              </a:defRPr>
            </a:pPr>
            <a:r>
              <a:t>• Pod hazır olma, CPU/bellek/ağ ve uygulama metrikleri izlenebilir.</a:t>
            </a:r>
          </a:p>
          <a:p>
            <a:pPr>
              <a:spcAft>
                <a:spcPts val="1100"/>
              </a:spcAft>
              <a:defRPr sz="1600">
                <a:solidFill>
                  <a:srgbClr val="172B4D"/>
                </a:solidFill>
                <a:latin typeface="Aptos"/>
              </a:defRPr>
            </a:pPr>
            <a:r>
              <a:t>• Grafana dashboard değişiklikleri de kod ve Argo CD ile takip edilir.</a:t>
            </a:r>
          </a:p>
          <a:p>
            <a:pPr>
              <a:spcAft>
                <a:spcPts val="1100"/>
              </a:spcAft>
              <a:defRPr sz="1600">
                <a:solidFill>
                  <a:srgbClr val="172B4D"/>
                </a:solidFill>
                <a:latin typeface="Aptos"/>
              </a:defRPr>
            </a:pPr>
            <a:r>
              <a:t>• /health ile readiness aynı anlamda değildir: uygulama ayakta olabilir, dış bağımlılıkları eksik olabilir.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515600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tos"/>
              </a:rPr>
              <a:t>11. Analitik katman: canlı hattan bağımsız Spark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50392"/>
            <a:ext cx="1051560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5B6770"/>
                </a:solidFill>
                <a:latin typeface="Aptos"/>
              </a:rPr>
              <a:t>Analiz işini canlı uçuş deneyimini etkilemeden ayrı bir batch yolunda ele aldık.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38328"/>
            <a:ext cx="50292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200" b="1">
                <a:solidFill>
                  <a:srgbClr val="1976D2"/>
                </a:solidFill>
                <a:latin typeface="Aptos"/>
              </a:rP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92240"/>
            <a:ext cx="11064240" cy="9144"/>
          </a:xfrm>
          <a:prstGeom prst="rect">
            <a:avLst/>
          </a:prstGeom>
          <a:solidFill>
            <a:srgbClr val="D9E2E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56248"/>
            <a:ext cx="484632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0">
                <a:solidFill>
                  <a:srgbClr val="5B6770"/>
                </a:solidFill>
                <a:latin typeface="Aptos"/>
              </a:rPr>
              <a:t>Flight Data Pipeline • Staj Projesi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331720"/>
            <a:ext cx="1600200" cy="914400"/>
          </a:xfrm>
          <a:prstGeom prst="round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2441448"/>
            <a:ext cx="1453896" cy="43891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MongoDB
raw_positions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843784"/>
            <a:ext cx="1453896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ptos"/>
              </a:rPr>
              <a:t>salt-okunur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2331720"/>
            <a:ext cx="1508760" cy="914400"/>
          </a:xfrm>
          <a:prstGeom prst="round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90672" y="2441448"/>
            <a:ext cx="1362456" cy="43891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JSONL.gz
export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0672" y="2843784"/>
            <a:ext cx="1362456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ptos"/>
              </a:rPr>
              <a:t>Git dışı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57800" y="2331720"/>
            <a:ext cx="1691640" cy="914400"/>
          </a:xfrm>
          <a:prstGeom prst="roundRect">
            <a:avLst/>
          </a:prstGeom>
          <a:solidFill>
            <a:srgbClr val="EF6C00"/>
          </a:solidFill>
          <a:ln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0952" y="2441448"/>
            <a:ext cx="1545336" cy="43891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Spark local[2]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0952" y="2843784"/>
            <a:ext cx="1545336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ptos"/>
              </a:rPr>
              <a:t>Docker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1325880"/>
            <a:ext cx="1737360" cy="914400"/>
          </a:xfrm>
          <a:prstGeom prst="roundRect">
            <a:avLst/>
          </a:prstGeom>
          <a:solidFill>
            <a:srgbClr val="6A1B9A"/>
          </a:solidFill>
          <a:ln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99831" y="1435607"/>
            <a:ext cx="1591056" cy="43891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Bronze / Silver
/ Rejected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9831" y="1837943"/>
            <a:ext cx="1591056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ptos"/>
              </a:rPr>
              <a:t>detay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26679" y="3429000"/>
            <a:ext cx="1737360" cy="914400"/>
          </a:xfrm>
          <a:prstGeom prst="round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99831" y="3538728"/>
            <a:ext cx="1591056" cy="43891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Gold
özetler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99831" y="3941064"/>
            <a:ext cx="1591056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ptos"/>
              </a:rPr>
              <a:t>rapor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194560" y="2788920"/>
            <a:ext cx="822960" cy="0"/>
          </a:xfrm>
          <a:prstGeom prst="line">
            <a:avLst/>
          </a:prstGeom>
          <a:ln w="25400">
            <a:solidFill>
              <a:srgbClr val="19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526280" y="2788920"/>
            <a:ext cx="731520" cy="0"/>
          </a:xfrm>
          <a:prstGeom prst="line">
            <a:avLst/>
          </a:prstGeom>
          <a:ln w="25400">
            <a:solidFill>
              <a:srgbClr val="19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6949440" y="1783080"/>
            <a:ext cx="777239" cy="731520"/>
          </a:xfrm>
          <a:prstGeom prst="line">
            <a:avLst/>
          </a:prstGeom>
          <a:ln w="25400">
            <a:solidFill>
              <a:srgbClr val="19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949440" y="3063240"/>
            <a:ext cx="777239" cy="822960"/>
          </a:xfrm>
          <a:prstGeom prst="line">
            <a:avLst/>
          </a:prstGeom>
          <a:ln w="25400">
            <a:solidFill>
              <a:srgbClr val="19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68680" y="5212080"/>
            <a:ext cx="1042416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C62828"/>
                </a:solidFill>
                <a:latin typeface="Aptos"/>
              </a:rPr>
              <a:t>Önemli sınır: Spark bu aşamada Kafka’yı tüketmez ve MongoDB’ye yazmaz; canlı yol aynen çalışmaya devam eder.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515600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tos"/>
              </a:rPr>
              <a:t>12. Bronze / Silver / Gold: veriyi adım adım olgunlaştırmak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50392"/>
            <a:ext cx="1051560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5B6770"/>
                </a:solidFill>
                <a:latin typeface="Aptos"/>
              </a:rPr>
              <a:t>Her katmanın farklı bir sorumluluğu vardır.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38328"/>
            <a:ext cx="50292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200" b="1">
                <a:solidFill>
                  <a:srgbClr val="1976D2"/>
                </a:solidFill>
                <a:latin typeface="Aptos"/>
              </a:rPr>
              <a:t>17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92240"/>
            <a:ext cx="11064240" cy="9144"/>
          </a:xfrm>
          <a:prstGeom prst="rect">
            <a:avLst/>
          </a:prstGeom>
          <a:solidFill>
            <a:srgbClr val="D9E2E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56248"/>
            <a:ext cx="484632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0">
                <a:solidFill>
                  <a:srgbClr val="5B6770"/>
                </a:solidFill>
                <a:latin typeface="Aptos"/>
              </a:rPr>
              <a:t>Flight Data Pipeline • Staj Projesi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3383280" cy="3063240"/>
          </a:xfrm>
          <a:prstGeom prst="roundRect">
            <a:avLst/>
          </a:prstGeom>
          <a:solidFill>
            <a:srgbClr val="F5F8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600200"/>
            <a:ext cx="73152" cy="3063240"/>
          </a:xfrm>
          <a:prstGeom prst="rect">
            <a:avLst/>
          </a:prstGeom>
          <a:solidFill>
            <a:srgbClr val="EF6C00"/>
          </a:solidFill>
          <a:ln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64792"/>
            <a:ext cx="30175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Bronze — ham ama tiplenmiş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76272"/>
            <a:ext cx="2999232" cy="23682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5B6770"/>
                </a:solidFill>
                <a:latin typeface="Aptos"/>
              </a:rPr>
              <a:t>Dışa aktarılan bütün okunabilir olaylar. Kalite filtresi uygulanmaz; veri kaynağına en yakın katmandır.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600200"/>
            <a:ext cx="3383280" cy="3063240"/>
          </a:xfrm>
          <a:prstGeom prst="roundRect">
            <a:avLst/>
          </a:prstGeom>
          <a:solidFill>
            <a:srgbClr val="F5F8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1600200"/>
            <a:ext cx="73152" cy="3063240"/>
          </a:xfrm>
          <a:prstGeom prst="rect">
            <a:avLst/>
          </a:prstGeom>
          <a:solidFill>
            <a:srgbClr val="7B1FA2"/>
          </a:solidFill>
          <a:ln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8" y="1764792"/>
            <a:ext cx="30175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Silver — analiz için güvenilir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2176272"/>
            <a:ext cx="2999232" cy="23682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5B6770"/>
                </a:solidFill>
                <a:latin typeface="Aptos"/>
              </a:rPr>
              <a:t>Kimlik, zaman, koordinat ve hız kurallarını geçen olaylar. Hatalı / eski gözlemler rejected tablosuna ayrılır.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600200"/>
            <a:ext cx="3383280" cy="3063240"/>
          </a:xfrm>
          <a:prstGeom prst="roundRect">
            <a:avLst/>
          </a:prstGeom>
          <a:solidFill>
            <a:srgbClr val="F5F8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600200"/>
            <a:ext cx="73152" cy="306324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764792"/>
            <a:ext cx="30175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Gold — karar için özet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176272"/>
            <a:ext cx="2999232" cy="23682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5B6770"/>
                </a:solidFill>
                <a:latin typeface="Aptos"/>
              </a:rPr>
              <a:t>Saatlik trafik, aktivite ve veri kalitesi gibi dashboard/rapor dostu sonuçlar yalnız Silver’dan üretilir.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069080" y="3127248"/>
            <a:ext cx="338328" cy="0"/>
          </a:xfrm>
          <a:prstGeom prst="line">
            <a:avLst/>
          </a:prstGeom>
          <a:ln w="25400">
            <a:solidFill>
              <a:srgbClr val="19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790688" y="3127248"/>
            <a:ext cx="347472" cy="0"/>
          </a:xfrm>
          <a:prstGeom prst="line">
            <a:avLst/>
          </a:prstGeom>
          <a:ln w="25400">
            <a:solidFill>
              <a:srgbClr val="19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22960" y="5303520"/>
            <a:ext cx="1060704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500" b="1">
                <a:solidFill>
                  <a:srgbClr val="102A43"/>
                </a:solidFill>
                <a:latin typeface="Aptos"/>
              </a:rPr>
              <a:t>Örnek kalite kuralları: negatif veya 400 m/s üzeri hız; observed_at ile ingested_at arasında 20 dakikayı aşan gecikme.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515600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tos"/>
              </a:rPr>
              <a:t>13. Apache Iceberg: tablo sürümü ve güvenli yenileme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50392"/>
            <a:ext cx="1051560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5B6770"/>
                </a:solidFill>
                <a:latin typeface="Aptos"/>
              </a:rPr>
              <a:t>Iceberg, Parquet dosyalarının üzerinde şema, partition ve snapshot yönetimi sağlar.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38328"/>
            <a:ext cx="50292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200" b="1">
                <a:solidFill>
                  <a:srgbClr val="1976D2"/>
                </a:solidFill>
                <a:latin typeface="Aptos"/>
              </a:rP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92240"/>
            <a:ext cx="11064240" cy="9144"/>
          </a:xfrm>
          <a:prstGeom prst="rect">
            <a:avLst/>
          </a:prstGeom>
          <a:solidFill>
            <a:srgbClr val="D9E2E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56248"/>
            <a:ext cx="484632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0">
                <a:solidFill>
                  <a:srgbClr val="5B6770"/>
                </a:solidFill>
                <a:latin typeface="Aptos"/>
              </a:rPr>
              <a:t>Flight Data Pipeline • Staj Projesi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371600"/>
            <a:ext cx="4892040" cy="1417320"/>
          </a:xfrm>
          <a:prstGeom prst="roundRect">
            <a:avLst/>
          </a:prstGeom>
          <a:solidFill>
            <a:srgbClr val="F5F8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371600"/>
            <a:ext cx="73152" cy="1417320"/>
          </a:xfrm>
          <a:prstGeom prst="rect">
            <a:avLst/>
          </a:prstGeom>
          <a:solidFill>
            <a:srgbClr val="6A1B9A"/>
          </a:solidFill>
          <a:ln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536192"/>
            <a:ext cx="4526279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Tablo soyutlaması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947672"/>
            <a:ext cx="4507992" cy="72237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5B6770"/>
                </a:solidFill>
                <a:latin typeface="Aptos"/>
              </a:rPr>
              <a:t>Veri dosyaları Parquet olarak kalır; metadata klasörü şemayı, snapshot’ları ve hangi dosyaların tabloda olduğunu yönetir.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371600"/>
            <a:ext cx="4892040" cy="1417320"/>
          </a:xfrm>
          <a:prstGeom prst="roundRect">
            <a:avLst/>
          </a:prstGeom>
          <a:solidFill>
            <a:srgbClr val="F5F8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371600"/>
            <a:ext cx="73152" cy="141732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536192"/>
            <a:ext cx="4526279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Snapshot / time-travel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947672"/>
            <a:ext cx="4507992" cy="72237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5B6770"/>
                </a:solidFill>
                <a:latin typeface="Aptos"/>
              </a:rPr>
              <a:t>Başarılı append yeni snapshot oluşturur. Güncel tablo normal SQL ile; geçmiş hal VERSION AS OF ile sorgulanabilir.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337560"/>
            <a:ext cx="4892040" cy="1417320"/>
          </a:xfrm>
          <a:prstGeom prst="roundRect">
            <a:avLst/>
          </a:prstGeom>
          <a:solidFill>
            <a:srgbClr val="F5F8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337560"/>
            <a:ext cx="73152" cy="141732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502152"/>
            <a:ext cx="4526279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Kontrollü batch refresh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913632"/>
            <a:ext cx="4507992" cy="72237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5B6770"/>
                </a:solidFill>
                <a:latin typeface="Aptos"/>
              </a:rPr>
              <a:t>Önce dry-run; sonra event_id anti-join ile yalnız yeni olaylar Bronze’a append edilir. İki kez ekleme engellenir.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337560"/>
            <a:ext cx="4892040" cy="1417320"/>
          </a:xfrm>
          <a:prstGeom prst="roundRect">
            <a:avLst/>
          </a:prstGeom>
          <a:solidFill>
            <a:srgbClr val="F5F8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3337560"/>
            <a:ext cx="73152" cy="1417320"/>
          </a:xfrm>
          <a:prstGeom prst="rect">
            <a:avLst/>
          </a:prstGeom>
          <a:solidFill>
            <a:srgbClr val="EF6C00"/>
          </a:solidFill>
          <a:ln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502152"/>
            <a:ext cx="4526279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Kaynak sınırı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913632"/>
            <a:ext cx="4507992" cy="72237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5B6770"/>
                </a:solidFill>
                <a:latin typeface="Aptos"/>
              </a:rPr>
              <a:t>Tek Docker container içinde Spark local[2], en fazla 2 CPU ve 3 GiB bellek kullanır; Kubernetes kaynaklarını korur.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669280"/>
            <a:ext cx="1060704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700" b="1">
                <a:solidFill>
                  <a:srgbClr val="102A43"/>
                </a:solidFill>
                <a:latin typeface="Aptos"/>
              </a:rPr>
              <a:t>Amaç: ham veriye dokunmadan, tekrar çalıştırılabilir ve izlenebilir analiz yenilemeleri yapmak.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515600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tos"/>
              </a:rPr>
              <a:t>14. Test yaklaşımı: her katmanı kanıtlamak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50392"/>
            <a:ext cx="1051560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5B6770"/>
                </a:solidFill>
                <a:latin typeface="Aptos"/>
              </a:rPr>
              <a:t>Bir değişiklik ancak gözlemlenebilir kanıtla tamamlanmış sayılır.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38328"/>
            <a:ext cx="50292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200" b="1">
                <a:solidFill>
                  <a:srgbClr val="1976D2"/>
                </a:solidFill>
                <a:latin typeface="Aptos"/>
              </a:rPr>
              <a:t>19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92240"/>
            <a:ext cx="11064240" cy="9144"/>
          </a:xfrm>
          <a:prstGeom prst="rect">
            <a:avLst/>
          </a:prstGeom>
          <a:solidFill>
            <a:srgbClr val="D9E2E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56248"/>
            <a:ext cx="484632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0">
                <a:solidFill>
                  <a:srgbClr val="5B6770"/>
                </a:solidFill>
                <a:latin typeface="Aptos"/>
              </a:rPr>
              <a:t>Flight Data Pipeline • Staj Projesi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234440"/>
            <a:ext cx="1554480" cy="658368"/>
          </a:xfrm>
          <a:prstGeom prst="round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417320"/>
            <a:ext cx="1408176" cy="2103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Kod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06040" y="1234440"/>
            <a:ext cx="8503920" cy="658368"/>
          </a:xfrm>
          <a:prstGeom prst="roundRect">
            <a:avLst/>
          </a:prstGeom>
          <a:solidFill>
            <a:srgbClr val="F5F8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0" y="1399032"/>
            <a:ext cx="809244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0">
                <a:solidFill>
                  <a:srgbClr val="102A43"/>
                </a:solidFill>
                <a:latin typeface="Aptos"/>
              </a:rPr>
              <a:t>Python syntax, unit test, frontend test/build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194560"/>
            <a:ext cx="1554480" cy="658368"/>
          </a:xfrm>
          <a:prstGeom prst="round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2377440"/>
            <a:ext cx="1408176" cy="2103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Entegrasyon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06040" y="2194560"/>
            <a:ext cx="8503920" cy="658368"/>
          </a:xfrm>
          <a:prstGeom prst="roundRect">
            <a:avLst/>
          </a:prstGeom>
          <a:solidFill>
            <a:srgbClr val="F5F8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0" y="2359152"/>
            <a:ext cx="809244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0">
                <a:solidFill>
                  <a:srgbClr val="102A43"/>
                </a:solidFill>
                <a:latin typeface="Aptos"/>
              </a:rPr>
              <a:t>İzole Kafka + Mongo: retry, DLQ, lag, TTL, retention, index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154680"/>
            <a:ext cx="1554480" cy="658368"/>
          </a:xfrm>
          <a:prstGeom prst="roundRect">
            <a:avLst/>
          </a:prstGeom>
          <a:solidFill>
            <a:srgbClr val="6A1B9A"/>
          </a:solidFill>
          <a:ln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3337560"/>
            <a:ext cx="1408176" cy="2103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Uçtan uca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06040" y="3154680"/>
            <a:ext cx="8503920" cy="658368"/>
          </a:xfrm>
          <a:prstGeom prst="roundRect">
            <a:avLst/>
          </a:prstGeom>
          <a:solidFill>
            <a:srgbClr val="F5F8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34640" y="3319272"/>
            <a:ext cx="809244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0">
                <a:solidFill>
                  <a:srgbClr val="102A43"/>
                </a:solidFill>
                <a:latin typeface="Aptos"/>
              </a:rPr>
              <a:t>REST snapshot, WebSocket, canlı harita, history rotası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114800"/>
            <a:ext cx="1554480" cy="658368"/>
          </a:xfrm>
          <a:prstGeom prst="roundRect">
            <a:avLst/>
          </a:prstGeom>
          <a:solidFill>
            <a:srgbClr val="EF6C00"/>
          </a:solidFill>
          <a:ln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4297680"/>
            <a:ext cx="1408176" cy="2103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Operasyon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606040" y="4114800"/>
            <a:ext cx="8503920" cy="658368"/>
          </a:xfrm>
          <a:prstGeom prst="roundRect">
            <a:avLst/>
          </a:prstGeom>
          <a:solidFill>
            <a:srgbClr val="F5F8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34640" y="4279392"/>
            <a:ext cx="809244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0">
                <a:solidFill>
                  <a:srgbClr val="102A43"/>
                </a:solidFill>
                <a:latin typeface="Aptos"/>
              </a:rPr>
              <a:t>restart, backup / boş hedef restore, log ve consumer lag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5074920"/>
            <a:ext cx="1554480" cy="658368"/>
          </a:xfrm>
          <a:prstGeom prst="roundRect">
            <a:avLst/>
          </a:prstGeom>
          <a:solidFill>
            <a:srgbClr val="C62828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5257800"/>
            <a:ext cx="1408176" cy="2103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Release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606040" y="5074920"/>
            <a:ext cx="8503920" cy="658368"/>
          </a:xfrm>
          <a:prstGeom prst="roundRect">
            <a:avLst/>
          </a:prstGeom>
          <a:solidFill>
            <a:srgbClr val="F5F8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34640" y="5239512"/>
            <a:ext cx="809244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0">
                <a:solidFill>
                  <a:srgbClr val="102A43"/>
                </a:solidFill>
                <a:latin typeface="Aptos"/>
              </a:rPr>
              <a:t>çok mimari image, SBOM, provenance, Cosign, offline paket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515600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tos"/>
              </a:rPr>
              <a:t>15. Release ve dağıtım disiplini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50392"/>
            <a:ext cx="1051560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5B6770"/>
                </a:solidFill>
                <a:latin typeface="Aptos"/>
              </a:rPr>
              <a:t>Geliştirme ortamında çalışan şey, temiz hedefte de doğrulanmalıdır.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38328"/>
            <a:ext cx="50292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200" b="1">
                <a:solidFill>
                  <a:srgbClr val="1976D2"/>
                </a:solidFill>
                <a:latin typeface="Aptos"/>
              </a:rPr>
              <a:t>20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92240"/>
            <a:ext cx="11064240" cy="9144"/>
          </a:xfrm>
          <a:prstGeom prst="rect">
            <a:avLst/>
          </a:prstGeom>
          <a:solidFill>
            <a:srgbClr val="D9E2E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56248"/>
            <a:ext cx="484632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0">
                <a:solidFill>
                  <a:srgbClr val="5B6770"/>
                </a:solidFill>
                <a:latin typeface="Aptos"/>
              </a:rPr>
              <a:t>Flight Data Pipeline • Staj Projesi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80160"/>
            <a:ext cx="640080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172B4D"/>
                </a:solidFill>
                <a:latin typeface="Aptos"/>
              </a:defRPr>
            </a:pPr>
            <a:r>
              <a:t>• AMD64 ve ARM64 için image’lar ayrı üretilir; registry’de çok mimarili manifest hedeflenir.</a:t>
            </a:r>
          </a:p>
          <a:p>
            <a:pPr>
              <a:spcAft>
                <a:spcPts val="1100"/>
              </a:spcAft>
              <a:defRPr sz="1600">
                <a:solidFill>
                  <a:srgbClr val="172B4D"/>
                </a:solidFill>
                <a:latin typeface="Aptos"/>
              </a:defRPr>
            </a:pPr>
            <a:r>
              <a:t>• SBOM (bileşen listesi), provenance (üretim kökeni) ve keyless Cosign imzası release güven zincirinin parçasıdır.</a:t>
            </a:r>
          </a:p>
          <a:p>
            <a:pPr>
              <a:spcAft>
                <a:spcPts val="1100"/>
              </a:spcAft>
              <a:defRPr sz="1600">
                <a:solidFill>
                  <a:srgbClr val="172B4D"/>
                </a:solidFill>
                <a:latin typeface="Aptos"/>
              </a:defRPr>
            </a:pPr>
            <a:r>
              <a:t>• Offline paket dış/iç SHA-256 doğrulaması, sürümlü Compose ve setup/backup/restore scriptleri içerir.</a:t>
            </a:r>
          </a:p>
          <a:p>
            <a:pPr>
              <a:spcAft>
                <a:spcPts val="1100"/>
              </a:spcAft>
              <a:defRPr sz="1600">
                <a:solidFill>
                  <a:srgbClr val="172B4D"/>
                </a:solidFill>
                <a:latin typeface="Aptos"/>
              </a:defRPr>
            </a:pPr>
            <a:r>
              <a:t>• Setup scripti mimari, Docker/Compose, bellek, port, disk ve image bütünlüğünü denetler.</a:t>
            </a:r>
          </a:p>
          <a:p>
            <a:pPr>
              <a:spcAft>
                <a:spcPts val="1100"/>
              </a:spcAft>
              <a:defRPr sz="1600">
                <a:solidFill>
                  <a:srgbClr val="172B4D"/>
                </a:solidFill>
                <a:latin typeface="Aptos"/>
              </a:defRPr>
            </a:pPr>
            <a:r>
              <a:t>• Rollback: APP_VERSION önceki sürüme alınabilir; veri şeması için backup/restore prosedürü ayrıca korunur.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463040"/>
            <a:ext cx="3566160" cy="1234440"/>
          </a:xfrm>
          <a:prstGeom prst="roundRect">
            <a:avLst/>
          </a:prstGeom>
          <a:solidFill>
            <a:srgbClr val="F5F8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43800" y="1463040"/>
            <a:ext cx="73152" cy="1234440"/>
          </a:xfrm>
          <a:prstGeom prst="rect">
            <a:avLst/>
          </a:prstGeom>
          <a:solidFill>
            <a:srgbClr val="C62828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1627632"/>
            <a:ext cx="32004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RC durumu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039112"/>
            <a:ext cx="3182112" cy="5394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5B6770"/>
                </a:solidFill>
                <a:latin typeface="Aptos"/>
              </a:rPr>
              <a:t>v1.0.0-rc.2 temiz Kafka volume izin hatası nedeniyle kabul edilmedi; etiket değiştirilmez.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2971800"/>
            <a:ext cx="3566160" cy="1325880"/>
          </a:xfrm>
          <a:prstGeom prst="roundRect">
            <a:avLst/>
          </a:prstGeom>
          <a:solidFill>
            <a:srgbClr val="F5F8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43800" y="2971800"/>
            <a:ext cx="73152" cy="1325880"/>
          </a:xfrm>
          <a:prstGeom prst="rect">
            <a:avLst/>
          </a:prstGeom>
          <a:solidFill>
            <a:srgbClr val="EF6C00"/>
          </a:solidFill>
          <a:ln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3136392"/>
            <a:ext cx="32004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RC.3 kapısı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547872"/>
            <a:ext cx="3182112" cy="63093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5B6770"/>
                </a:solidFill>
                <a:latin typeface="Aptos"/>
              </a:rPr>
              <a:t>kafka-volume-init ile temiz volume testleri; registry/offline, manifest/SBOM/provenance/Cosign doğrulaması.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0" y="4617720"/>
            <a:ext cx="3566160" cy="1051560"/>
          </a:xfrm>
          <a:prstGeom prst="roundRect">
            <a:avLst/>
          </a:prstGeom>
          <a:solidFill>
            <a:srgbClr val="F5F8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43800" y="4617720"/>
            <a:ext cx="73152" cy="105156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4782312"/>
            <a:ext cx="32004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v1.0.0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5193792"/>
            <a:ext cx="3182112" cy="356615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5B6770"/>
                </a:solidFill>
                <a:latin typeface="Aptos"/>
              </a:rPr>
              <a:t>Bütün kabul satırları geçer ve kullanıcı onay verirse aynı uygulama commit’i etiketlenir.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515600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tos"/>
              </a:rPr>
              <a:t>16. Canlı demo planı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50392"/>
            <a:ext cx="1051560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5B6770"/>
                </a:solidFill>
                <a:latin typeface="Aptos"/>
              </a:rPr>
              <a:t>Demo kısa tutulur: ürün değerini ve hattın sağlığını birlikte gösterir.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38328"/>
            <a:ext cx="50292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200" b="1">
                <a:solidFill>
                  <a:srgbClr val="1976D2"/>
                </a:solidFill>
                <a:latin typeface="Aptos"/>
              </a:rPr>
              <a:t>21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92240"/>
            <a:ext cx="11064240" cy="9144"/>
          </a:xfrm>
          <a:prstGeom prst="rect">
            <a:avLst/>
          </a:prstGeom>
          <a:solidFill>
            <a:srgbClr val="D9E2E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56248"/>
            <a:ext cx="484632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0">
                <a:solidFill>
                  <a:srgbClr val="5B6770"/>
                </a:solidFill>
                <a:latin typeface="Aptos"/>
              </a:rPr>
              <a:t>Flight Data Pipeline • Staj Projesi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25880"/>
            <a:ext cx="3383280" cy="1508760"/>
          </a:xfrm>
          <a:prstGeom prst="roundRect">
            <a:avLst/>
          </a:prstGeom>
          <a:solidFill>
            <a:srgbClr val="F5F8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73152" cy="150876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490472"/>
            <a:ext cx="30175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1. Servisler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901952"/>
            <a:ext cx="2999232" cy="813815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5B6770"/>
                </a:solidFill>
                <a:latin typeface="Aptos"/>
              </a:rPr>
              <a:t>docker compose ps ile container health durumunu göster.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325880"/>
            <a:ext cx="3383280" cy="1508760"/>
          </a:xfrm>
          <a:prstGeom prst="roundRect">
            <a:avLst/>
          </a:prstGeom>
          <a:solidFill>
            <a:srgbClr val="F5F8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325880"/>
            <a:ext cx="73152" cy="150876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490472"/>
            <a:ext cx="30175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2. Kullanıcı ekranı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1901952"/>
            <a:ext cx="2999232" cy="813815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5B6770"/>
                </a:solidFill>
                <a:latin typeface="Aptos"/>
              </a:rPr>
              <a:t>Haritayı aç; canlı uçak listesini ve filtrelemeyi göster.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325880"/>
            <a:ext cx="3383280" cy="1508760"/>
          </a:xfrm>
          <a:prstGeom prst="roundRect">
            <a:avLst/>
          </a:prstGeom>
          <a:solidFill>
            <a:srgbClr val="F5F8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325880"/>
            <a:ext cx="73152" cy="150876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1490472"/>
            <a:ext cx="30175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3. Geçmiş rota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1901952"/>
            <a:ext cx="2999232" cy="813815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5B6770"/>
                </a:solidFill>
                <a:latin typeface="Aptos"/>
              </a:rPr>
              <a:t>Bir uçağı seç; geçmiş noktaların rota olarak çizildiğini göster.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383280"/>
            <a:ext cx="3383280" cy="1508760"/>
          </a:xfrm>
          <a:prstGeom prst="roundRect">
            <a:avLst/>
          </a:prstGeom>
          <a:solidFill>
            <a:srgbClr val="F5F8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383280"/>
            <a:ext cx="73152" cy="150876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547872"/>
            <a:ext cx="30175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4. Backend kanıtı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959352"/>
            <a:ext cx="2999232" cy="813815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5B6770"/>
                </a:solidFill>
                <a:latin typeface="Aptos"/>
              </a:rPr>
              <a:t>/health ve /api/aircraft endpoint’lerini göster.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3383280"/>
            <a:ext cx="3383280" cy="1508760"/>
          </a:xfrm>
          <a:prstGeom prst="roundRect">
            <a:avLst/>
          </a:prstGeom>
          <a:solidFill>
            <a:srgbClr val="F5F8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34840" y="3383280"/>
            <a:ext cx="73152" cy="150876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3547872"/>
            <a:ext cx="30175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5. Veri hattı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3959352"/>
            <a:ext cx="2999232" cy="813815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5B6770"/>
                </a:solidFill>
                <a:latin typeface="Aptos"/>
              </a:rPr>
              <a:t>Mongo raw/live kayıt sayısı ve iki consumer group lag=0 kanıtını göster.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760720"/>
            <a:ext cx="105156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500" b="1">
                <a:solidFill>
                  <a:srgbClr val="C62828"/>
                </a:solidFill>
                <a:latin typeface="Aptos"/>
              </a:rPr>
              <a:t>Demo sırasında hata olursa: log göstermek yerine önce /health, ardından consumer lag ve servis loglarıyla problemi daralt.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515600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tos"/>
              </a:rPr>
              <a:t>17. Staj boyunca ne öğrendim?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50392"/>
            <a:ext cx="1051560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5B6770"/>
                </a:solidFill>
                <a:latin typeface="Aptos"/>
              </a:rPr>
              <a:t>Tek tek araçlardan çok, araçların birlikte oluşturduğu sistem davranışını öğrendim.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38328"/>
            <a:ext cx="50292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200" b="1">
                <a:solidFill>
                  <a:srgbClr val="1976D2"/>
                </a:solidFill>
                <a:latin typeface="Aptos"/>
              </a:rPr>
              <a:t>22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92240"/>
            <a:ext cx="11064240" cy="9144"/>
          </a:xfrm>
          <a:prstGeom prst="rect">
            <a:avLst/>
          </a:prstGeom>
          <a:solidFill>
            <a:srgbClr val="D9E2E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56248"/>
            <a:ext cx="484632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0">
                <a:solidFill>
                  <a:srgbClr val="5B6770"/>
                </a:solidFill>
                <a:latin typeface="Aptos"/>
              </a:rPr>
              <a:t>Flight Data Pipeline • Staj Projesi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234440"/>
            <a:ext cx="5029200" cy="1188720"/>
          </a:xfrm>
          <a:prstGeom prst="roundRect">
            <a:avLst/>
          </a:prstGeom>
          <a:solidFill>
            <a:srgbClr val="F5F8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234440"/>
            <a:ext cx="73152" cy="118872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399032"/>
            <a:ext cx="466344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Sistem tasarımı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810512"/>
            <a:ext cx="4645152" cy="49377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5B6770"/>
                </a:solidFill>
                <a:latin typeface="Aptos"/>
              </a:rPr>
              <a:t>Sorumlulukları ayırmak; veri üretimi, depolama, API ve arayüzü birbirinden bağımsızlaştırmak.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234440"/>
            <a:ext cx="5029200" cy="1188720"/>
          </a:xfrm>
          <a:prstGeom prst="roundRect">
            <a:avLst/>
          </a:prstGeom>
          <a:solidFill>
            <a:srgbClr val="F5F8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234440"/>
            <a:ext cx="73152" cy="118872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399032"/>
            <a:ext cx="466344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Dağıtık veri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10512"/>
            <a:ext cx="4645152" cy="49377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5B6770"/>
                </a:solidFill>
                <a:latin typeface="Aptos"/>
              </a:rPr>
              <a:t>Topic, consumer group, offset, lag, yeniden deneme ve idempotency kavramlarını gerçek akışta kullanmak.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743200"/>
            <a:ext cx="5029200" cy="1188720"/>
          </a:xfrm>
          <a:prstGeom prst="roundRect">
            <a:avLst/>
          </a:prstGeom>
          <a:solidFill>
            <a:srgbClr val="F5F8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2743200"/>
            <a:ext cx="73152" cy="1188720"/>
          </a:xfrm>
          <a:prstGeom prst="rect">
            <a:avLst/>
          </a:prstGeom>
          <a:solidFill>
            <a:srgbClr val="6A1B9A"/>
          </a:solidFill>
          <a:ln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907792"/>
            <a:ext cx="466344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Veri modelleme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319272"/>
            <a:ext cx="4645152" cy="49377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5B6770"/>
                </a:solidFill>
                <a:latin typeface="Aptos"/>
              </a:rPr>
              <a:t>Ham geçmiş ile güncel durum için farklı koleksiyon, index ve TTL stratejileri tasarlamak.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2743200"/>
            <a:ext cx="5029200" cy="1188720"/>
          </a:xfrm>
          <a:prstGeom prst="roundRect">
            <a:avLst/>
          </a:prstGeom>
          <a:solidFill>
            <a:srgbClr val="F5F8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2743200"/>
            <a:ext cx="73152" cy="1188720"/>
          </a:xfrm>
          <a:prstGeom prst="rect">
            <a:avLst/>
          </a:prstGeom>
          <a:solidFill>
            <a:srgbClr val="EF6C00"/>
          </a:solidFill>
          <a:ln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466344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Ürün geliştirme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319272"/>
            <a:ext cx="4645152" cy="49377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5B6770"/>
                </a:solidFill>
                <a:latin typeface="Aptos"/>
              </a:rPr>
              <a:t>REST snapshot ile WebSocket’in birbirini tamamladığını; fallback ve performansın kullanıcı deneyimini belirlediğini görmek.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251960"/>
            <a:ext cx="5029200" cy="1188720"/>
          </a:xfrm>
          <a:prstGeom prst="roundRect">
            <a:avLst/>
          </a:prstGeom>
          <a:solidFill>
            <a:srgbClr val="F5F8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4251960"/>
            <a:ext cx="73152" cy="1188720"/>
          </a:xfrm>
          <a:prstGeom prst="rect">
            <a:avLst/>
          </a:prstGeom>
          <a:solidFill>
            <a:srgbClr val="C62828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416552"/>
            <a:ext cx="466344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Operasyon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828032"/>
            <a:ext cx="4645152" cy="49377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5B6770"/>
                </a:solidFill>
                <a:latin typeface="Aptos"/>
              </a:rPr>
              <a:t>Container, healthcheck, backup/restore, monitoring, release kanıtı ve güvenli geri alma süreçlerini uygulamak.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4251960"/>
            <a:ext cx="5029200" cy="1188720"/>
          </a:xfrm>
          <a:prstGeom prst="roundRect">
            <a:avLst/>
          </a:prstGeom>
          <a:solidFill>
            <a:srgbClr val="F5F8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72200" y="4251960"/>
            <a:ext cx="73152" cy="1188720"/>
          </a:xfrm>
          <a:prstGeom prst="rect">
            <a:avLst/>
          </a:prstGeom>
          <a:solidFill>
            <a:srgbClr val="00ACC1"/>
          </a:solidFill>
          <a:ln>
            <a:solidFill>
              <a:srgbClr val="00A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416552"/>
            <a:ext cx="466344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Analitik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828032"/>
            <a:ext cx="4645152" cy="49377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5B6770"/>
                </a:solidFill>
                <a:latin typeface="Aptos"/>
              </a:rPr>
              <a:t>Bronze/Silver/Gold, veri kalitesi, incremental refresh ve Iceberg snapshot/time-travel yaklaşımını uygulamak.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515600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tos"/>
              </a:rPr>
              <a:t>18. Sıradaki teknik adımlar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50392"/>
            <a:ext cx="1051560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5B6770"/>
                </a:solidFill>
                <a:latin typeface="Aptos"/>
              </a:rPr>
              <a:t>Mevcut çalışma, güvenli release kabulüyle tamamlanacak; ardından iyileştirmeler ölçülerek ele alınacak.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38328"/>
            <a:ext cx="50292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200" b="1">
                <a:solidFill>
                  <a:srgbClr val="1976D2"/>
                </a:solidFill>
                <a:latin typeface="Aptos"/>
              </a:rPr>
              <a:t>23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92240"/>
            <a:ext cx="11064240" cy="9144"/>
          </a:xfrm>
          <a:prstGeom prst="rect">
            <a:avLst/>
          </a:prstGeom>
          <a:solidFill>
            <a:srgbClr val="D9E2E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56248"/>
            <a:ext cx="484632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800" b="0">
                <a:solidFill>
                  <a:srgbClr val="5B6770"/>
                </a:solidFill>
                <a:latin typeface="Aptos"/>
              </a:rPr>
              <a:t>Flight Data Pipeline • Staj Projesi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3337560" cy="1828800"/>
          </a:xfrm>
          <a:prstGeom prst="roundRect">
            <a:avLst/>
          </a:prstGeom>
          <a:solidFill>
            <a:srgbClr val="F5F8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25880"/>
            <a:ext cx="73152" cy="1828800"/>
          </a:xfrm>
          <a:prstGeom prst="rect">
            <a:avLst/>
          </a:prstGeom>
          <a:solidFill>
            <a:srgbClr val="C62828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490472"/>
            <a:ext cx="29718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Öncelik 1 — RC.3 kabulü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901952"/>
            <a:ext cx="2953512" cy="11338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5B6770"/>
                </a:solidFill>
                <a:latin typeface="Aptos"/>
              </a:rPr>
              <a:t>Temiz Kafka volume, offline/registry kurulumları ve çok mimari güven zinciri kanıtlarını tamamlamak.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325880"/>
            <a:ext cx="3337560" cy="1828800"/>
          </a:xfrm>
          <a:prstGeom prst="roundRect">
            <a:avLst/>
          </a:prstGeom>
          <a:solidFill>
            <a:srgbClr val="F5F8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325880"/>
            <a:ext cx="73152" cy="1828800"/>
          </a:xfrm>
          <a:prstGeom prst="rect">
            <a:avLst/>
          </a:prstGeom>
          <a:solidFill>
            <a:srgbClr val="EF6C00"/>
          </a:solidFill>
          <a:ln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490472"/>
            <a:ext cx="29718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Öncelik 2 — operasyon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1901952"/>
            <a:ext cx="2953512" cy="11338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5B6770"/>
                </a:solidFill>
                <a:latin typeface="Aptos"/>
              </a:rPr>
              <a:t>DLQ izleme, metrik alarm eşiği ve release kabul matrisini gerçek hedeflerde doldurmak.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325880"/>
            <a:ext cx="3337560" cy="1828800"/>
          </a:xfrm>
          <a:prstGeom prst="roundRect">
            <a:avLst/>
          </a:prstGeom>
          <a:solidFill>
            <a:srgbClr val="F5F8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325880"/>
            <a:ext cx="73152" cy="182880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490472"/>
            <a:ext cx="29718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Öncelik 3 — production kararları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1901952"/>
            <a:ext cx="2953512" cy="11338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5B6770"/>
                </a:solidFill>
                <a:latin typeface="Aptos"/>
              </a:rPr>
              <a:t>TLS, kimlik doğrulama, uygun harita tile sağlayıcısı ve ölçekleme planını eğitim ortamından ayrı değerlendirmek.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069080"/>
            <a:ext cx="1046988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700" b="1">
                <a:solidFill>
                  <a:srgbClr val="C62828"/>
                </a:solidFill>
                <a:latin typeface="Aptos"/>
              </a:rPr>
              <a:t>Bilinçli sınır: Mevcut yapı localhost eğitim projesidir; public internet yayını veya production SLA iddiası yoktur.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4983480"/>
            <a:ext cx="6675120" cy="7315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02A43"/>
                </a:solidFill>
                <a:latin typeface="Aptos"/>
              </a:defRPr>
            </a:pPr>
            <a:r>
              <a:t>• Önce doğrulanmış, geri alınabilir ve gözlemlenebilir sistem.</a:t>
            </a:r>
          </a:p>
          <a:p>
            <a:pPr>
              <a:spcAft>
                <a:spcPts val="1100"/>
              </a:spcAft>
              <a:defRPr sz="1800">
                <a:solidFill>
                  <a:srgbClr val="102A43"/>
                </a:solidFill>
                <a:latin typeface="Aptos"/>
              </a:defRPr>
            </a:pPr>
            <a:r>
              <a:t>• Sonra performans / ölçekleme / yeni özellikler.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CC1"/>
          </a:solidFill>
          <a:ln>
            <a:solidFill>
              <a:srgbClr val="00A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005840"/>
            <a:ext cx="274320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Sonuç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424160" cy="10058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D9EAF7"/>
                </a:solidFill>
                <a:latin typeface="Aptos"/>
              </a:rPr>
              <a:t>Canlı uçuş verisini yalnızca haritada göstermedik;
verinin güvenilir, izlenebilir ve analiz edilebilir bir yaşam döngüsünü kurduk.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023360"/>
            <a:ext cx="3200400" cy="1051560"/>
          </a:xfrm>
          <a:prstGeom prst="roundRect">
            <a:avLst/>
          </a:prstGeom>
          <a:solidFill>
            <a:srgbClr val="1F4A6D"/>
          </a:solidFill>
          <a:ln>
            <a:solidFill>
              <a:srgbClr val="2E64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224528"/>
            <a:ext cx="2834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500" b="1">
                <a:solidFill>
                  <a:srgbClr val="00ACC1"/>
                </a:solidFill>
                <a:latin typeface="Aptos"/>
              </a:rPr>
              <a:t>Canlı sistem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4544568"/>
            <a:ext cx="288036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OpenSky → Kafka → MongoDB → FastAPI → React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79" y="4023360"/>
            <a:ext cx="3200400" cy="1051560"/>
          </a:xfrm>
          <a:prstGeom prst="roundRect">
            <a:avLst/>
          </a:prstGeom>
          <a:solidFill>
            <a:srgbClr val="1F4A6D"/>
          </a:solidFill>
          <a:ln>
            <a:solidFill>
              <a:srgbClr val="2E64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59" y="4224528"/>
            <a:ext cx="2834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500" b="1">
                <a:solidFill>
                  <a:srgbClr val="EF6C00"/>
                </a:solidFill>
                <a:latin typeface="Aptos"/>
              </a:rPr>
              <a:t>Dayanıklılık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0871" y="4544568"/>
            <a:ext cx="288036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Retry, DLQ, idempotent upsert, backup/restore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19" y="4023360"/>
            <a:ext cx="3200400" cy="1051560"/>
          </a:xfrm>
          <a:prstGeom prst="roundRect">
            <a:avLst/>
          </a:prstGeom>
          <a:solidFill>
            <a:srgbClr val="1F4A6D"/>
          </a:solidFill>
          <a:ln>
            <a:solidFill>
              <a:srgbClr val="2E64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199" y="4224528"/>
            <a:ext cx="2834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500" b="1">
                <a:solidFill>
                  <a:srgbClr val="6A1B9A"/>
                </a:solidFill>
                <a:latin typeface="Aptos"/>
              </a:rPr>
              <a:t>Analitik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9911" y="4544568"/>
            <a:ext cx="288036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Spark, Bronze/Silver/Gold, Iceberg snapshot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897880"/>
            <a:ext cx="106984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Teşekkürler • Sorularınız?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